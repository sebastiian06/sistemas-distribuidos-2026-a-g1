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 id="2147483654" r:id="rId3"/>
    <p:sldMasterId id="2147483656" r:id="rId4"/>
  </p:sldMasterIdLst>
  <p:notesMasterIdLst>
    <p:notesMasterId r:id="rId2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embeddedFontLst>
    <p:embeddedFont>
      <p:font typeface="Tahoma" panose="020B0604030504040204" pitchFamily="3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u/iNJESfDEaOt4Du18tN52tl3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972E22-CE3F-40E4-946A-D1752B916D21}">
  <a:tblStyle styleId="{58972E22-CE3F-40E4-946A-D1752B916D2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customschemas.google.com/relationships/presentationmetadata" Target="meta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 name="Google Shape;8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7" name="Google Shape;11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0" name="Google Shape;190;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 name="Google Shape;11;p33"/>
          <p:cNvSpPr txBox="1">
            <a:spLocks noGrp="1"/>
          </p:cNvSpPr>
          <p:nvPr>
            <p:ph type="subTitle" idx="1"/>
          </p:nvPr>
        </p:nvSpPr>
        <p:spPr>
          <a:xfrm>
            <a:off x="838080" y="1825560"/>
            <a:ext cx="10515240" cy="4350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Diapositiva de título" type="obj">
  <p:cSld name="OBJECT">
    <p:spTree>
      <p:nvGrpSpPr>
        <p:cNvPr id="1" name="Shape 12"/>
        <p:cNvGrpSpPr/>
        <p:nvPr/>
      </p:nvGrpSpPr>
      <p:grpSpPr>
        <a:xfrm>
          <a:off x="0" y="0"/>
          <a:ext cx="0" cy="0"/>
          <a:chOff x="0" y="0"/>
          <a:chExt cx="0" cy="0"/>
        </a:xfrm>
      </p:grpSpPr>
      <p:sp>
        <p:nvSpPr>
          <p:cNvPr id="13" name="Google Shape;13;p40"/>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40"/>
          <p:cNvSpPr txBox="1">
            <a:spLocks noGrp="1"/>
          </p:cNvSpPr>
          <p:nvPr>
            <p:ph type="body" idx="1"/>
          </p:nvPr>
        </p:nvSpPr>
        <p:spPr>
          <a:xfrm>
            <a:off x="838080" y="1825560"/>
            <a:ext cx="10515240" cy="43509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ítulo y objetos" type="blank">
  <p:cSld name="BLANK">
    <p:spTree>
      <p:nvGrpSpPr>
        <p:cNvPr id="1"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ítulo y objetos" type="obj">
  <p:cSld name="OBJECT">
    <p:spTree>
      <p:nvGrpSpPr>
        <p:cNvPr id="1" name="Shape 21"/>
        <p:cNvGrpSpPr/>
        <p:nvPr/>
      </p:nvGrpSpPr>
      <p:grpSpPr>
        <a:xfrm>
          <a:off x="0" y="0"/>
          <a:ext cx="0" cy="0"/>
          <a:chOff x="0" y="0"/>
          <a:chExt cx="0" cy="0"/>
        </a:xfrm>
      </p:grpSpPr>
      <p:sp>
        <p:nvSpPr>
          <p:cNvPr id="22" name="Google Shape;22;p41"/>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1"/>
          <p:cNvSpPr txBox="1">
            <a:spLocks noGrp="1"/>
          </p:cNvSpPr>
          <p:nvPr>
            <p:ph type="body" idx="1"/>
          </p:nvPr>
        </p:nvSpPr>
        <p:spPr>
          <a:xfrm>
            <a:off x="838080" y="1825560"/>
            <a:ext cx="10515240" cy="43509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37"/>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7"/>
          <p:cNvSpPr txBox="1">
            <a:spLocks noGrp="1"/>
          </p:cNvSpPr>
          <p:nvPr>
            <p:ph type="body" idx="1"/>
          </p:nvPr>
        </p:nvSpPr>
        <p:spPr>
          <a:xfrm>
            <a:off x="838080" y="1825560"/>
            <a:ext cx="10515240" cy="43509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37"/>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7"/>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35" name="Google Shape;35;p37"/>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42"/>
        <p:cNvGrpSpPr/>
        <p:nvPr/>
      </p:nvGrpSpPr>
      <p:grpSpPr>
        <a:xfrm>
          <a:off x="0" y="0"/>
          <a:ext cx="0" cy="0"/>
          <a:chOff x="0" y="0"/>
          <a:chExt cx="0" cy="0"/>
        </a:xfrm>
      </p:grpSpPr>
      <p:sp>
        <p:nvSpPr>
          <p:cNvPr id="43" name="Google Shape;43;p39"/>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9"/>
          <p:cNvSpPr txBox="1">
            <a:spLocks noGrp="1"/>
          </p:cNvSpPr>
          <p:nvPr>
            <p:ph type="subTitle" idx="1"/>
          </p:nvPr>
        </p:nvSpPr>
        <p:spPr>
          <a:xfrm>
            <a:off x="838080" y="1825560"/>
            <a:ext cx="10515240" cy="4350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9"/>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9"/>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47" name="Google Shape;47;p39"/>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5"/>
        <p:cNvGrpSpPr/>
        <p:nvPr/>
      </p:nvGrpSpPr>
      <p:grpSpPr>
        <a:xfrm>
          <a:off x="0" y="0"/>
          <a:ext cx="0" cy="0"/>
          <a:chOff x="0" y="0"/>
          <a:chExt cx="0" cy="0"/>
        </a:xfrm>
      </p:grpSpPr>
      <p:pic>
        <p:nvPicPr>
          <p:cNvPr id="6" name="Google Shape;6;p32"/>
          <p:cNvPicPr preferRelativeResize="0"/>
          <p:nvPr/>
        </p:nvPicPr>
        <p:blipFill rotWithShape="1">
          <a:blip r:embed="rId5">
            <a:alphaModFix/>
          </a:blip>
          <a:srcRect/>
          <a:stretch/>
        </p:blipFill>
        <p:spPr>
          <a:xfrm>
            <a:off x="720" y="0"/>
            <a:ext cx="12189960" cy="6857640"/>
          </a:xfrm>
          <a:prstGeom prst="rect">
            <a:avLst/>
          </a:prstGeom>
          <a:noFill/>
          <a:ln>
            <a:noFill/>
          </a:ln>
        </p:spPr>
      </p:pic>
      <p:sp>
        <p:nvSpPr>
          <p:cNvPr id="7" name="Google Shape;7;p3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32"/>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15"/>
        <p:cNvGrpSpPr/>
        <p:nvPr/>
      </p:nvGrpSpPr>
      <p:grpSpPr>
        <a:xfrm>
          <a:off x="0" y="0"/>
          <a:ext cx="0" cy="0"/>
          <a:chOff x="0" y="0"/>
          <a:chExt cx="0" cy="0"/>
        </a:xfrm>
      </p:grpSpPr>
      <p:pic>
        <p:nvPicPr>
          <p:cNvPr id="16" name="Google Shape;16;p34"/>
          <p:cNvPicPr preferRelativeResize="0"/>
          <p:nvPr/>
        </p:nvPicPr>
        <p:blipFill rotWithShape="1">
          <a:blip r:embed="rId5">
            <a:alphaModFix/>
          </a:blip>
          <a:srcRect/>
          <a:stretch/>
        </p:blipFill>
        <p:spPr>
          <a:xfrm>
            <a:off x="6480" y="0"/>
            <a:ext cx="12178800" cy="6857640"/>
          </a:xfrm>
          <a:prstGeom prst="rect">
            <a:avLst/>
          </a:prstGeom>
          <a:noFill/>
          <a:ln>
            <a:noFill/>
          </a:ln>
        </p:spPr>
      </p:pic>
      <p:pic>
        <p:nvPicPr>
          <p:cNvPr id="17" name="Google Shape;17;p34"/>
          <p:cNvPicPr preferRelativeResize="0"/>
          <p:nvPr/>
        </p:nvPicPr>
        <p:blipFill rotWithShape="1">
          <a:blip r:embed="rId6">
            <a:alphaModFix/>
          </a:blip>
          <a:srcRect/>
          <a:stretch/>
        </p:blipFill>
        <p:spPr>
          <a:xfrm>
            <a:off x="3240" y="0"/>
            <a:ext cx="12185280" cy="6857640"/>
          </a:xfrm>
          <a:prstGeom prst="rect">
            <a:avLst/>
          </a:prstGeom>
          <a:noFill/>
          <a:ln>
            <a:noFill/>
          </a:ln>
        </p:spPr>
      </p:pic>
      <p:sp>
        <p:nvSpPr>
          <p:cNvPr id="18" name="Google Shape;18;p3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3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
        <p:cNvGrpSpPr/>
        <p:nvPr/>
      </p:nvGrpSpPr>
      <p:grpSpPr>
        <a:xfrm>
          <a:off x="0" y="0"/>
          <a:ext cx="0" cy="0"/>
          <a:chOff x="0" y="0"/>
          <a:chExt cx="0" cy="0"/>
        </a:xfrm>
      </p:grpSpPr>
      <p:sp>
        <p:nvSpPr>
          <p:cNvPr id="25" name="Google Shape;25;p36"/>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36"/>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 name="Google Shape;27;p36"/>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 name="Google Shape;28;p36"/>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36"/>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
        <p:cNvGrpSpPr/>
        <p:nvPr/>
      </p:nvGrpSpPr>
      <p:grpSpPr>
        <a:xfrm>
          <a:off x="0" y="0"/>
          <a:ext cx="0" cy="0"/>
          <a:chOff x="0" y="0"/>
          <a:chExt cx="0" cy="0"/>
        </a:xfrm>
      </p:grpSpPr>
      <p:sp>
        <p:nvSpPr>
          <p:cNvPr id="37" name="Google Shape;37;p38"/>
          <p:cNvSpPr txBox="1">
            <a:spLocks noGrp="1"/>
          </p:cNvSpPr>
          <p:nvPr>
            <p:ph type="title"/>
          </p:nvPr>
        </p:nvSpPr>
        <p:spPr>
          <a:xfrm>
            <a:off x="1523880" y="1122480"/>
            <a:ext cx="9143640" cy="238716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8" name="Google Shape;38;p38"/>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38"/>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0" name="Google Shape;40;p38"/>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8B8B8B"/>
              </a:buClr>
              <a:buSzPts val="1200"/>
              <a:buFont typeface="Calibri"/>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solidFill>
                <a:srgbClr val="000000"/>
              </a:solidFill>
              <a:latin typeface="Times New Roman"/>
              <a:ea typeface="Times New Roman"/>
              <a:cs typeface="Times New Roman"/>
              <a:sym typeface="Times New Roman"/>
            </a:endParaRPr>
          </a:p>
        </p:txBody>
      </p:sp>
      <p:sp>
        <p:nvSpPr>
          <p:cNvPr id="41" name="Google Shape;41;p38"/>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ebooks7-24.com/?il=291&amp;pg=4"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p:nvPr/>
        </p:nvSpPr>
        <p:spPr>
          <a:xfrm>
            <a:off x="463680" y="1454760"/>
            <a:ext cx="4204440" cy="4457530"/>
          </a:xfrm>
          <a:prstGeom prst="rect">
            <a:avLst/>
          </a:prstGeom>
          <a:noFill/>
          <a:ln>
            <a:noFill/>
          </a:ln>
        </p:spPr>
        <p:txBody>
          <a:bodyPr spcFirstLastPara="1" wrap="square" lIns="0" tIns="12600" rIns="0" bIns="0" anchor="t" anchorCtr="0">
            <a:spAutoFit/>
          </a:bodyPr>
          <a:lstStyle/>
          <a:p>
            <a:pPr marL="72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rgbClr val="FFFFFF"/>
                </a:solidFill>
                <a:latin typeface="Tahoma"/>
                <a:ea typeface="Tahoma"/>
                <a:cs typeface="Tahoma"/>
                <a:sym typeface="Tahoma"/>
              </a:rPr>
              <a:t>FACULTAD DE INGENIERÍA</a:t>
            </a:r>
            <a:endParaRPr sz="3200" b="0" i="0" u="none" strike="noStrike" cap="none" dirty="0">
              <a:solidFill>
                <a:srgbClr val="000000"/>
              </a:solidFill>
              <a:latin typeface="Arial"/>
              <a:ea typeface="Arial"/>
              <a:cs typeface="Arial"/>
              <a:sym typeface="Arial"/>
            </a:endParaRPr>
          </a:p>
          <a:p>
            <a:pPr marL="0" marR="0" lvl="0" indent="0" algn="l" rtl="0">
              <a:lnSpc>
                <a:spcPct val="100000"/>
              </a:lnSpc>
              <a:spcBef>
                <a:spcPts val="45"/>
              </a:spcBef>
              <a:spcAft>
                <a:spcPts val="0"/>
              </a:spcAft>
              <a:buClr>
                <a:srgbClr val="000000"/>
              </a:buClr>
              <a:buSzPts val="3200"/>
              <a:buFont typeface="Arial"/>
              <a:buNone/>
            </a:pPr>
            <a:endParaRPr sz="3200" b="0" i="0" u="none" strike="noStrike" cap="none" dirty="0">
              <a:solidFill>
                <a:srgbClr val="000000"/>
              </a:solidFill>
              <a:latin typeface="Arial"/>
              <a:ea typeface="Arial"/>
              <a:cs typeface="Arial"/>
              <a:sym typeface="Arial"/>
            </a:endParaRPr>
          </a:p>
          <a:p>
            <a:pPr marL="144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rgbClr val="FFFFFF"/>
                </a:solidFill>
                <a:latin typeface="Tahoma"/>
                <a:ea typeface="Tahoma"/>
                <a:cs typeface="Tahoma"/>
                <a:sym typeface="Tahoma"/>
              </a:rPr>
              <a:t>INGENIERÍA SISTEMAS</a:t>
            </a:r>
          </a:p>
          <a:p>
            <a:pPr marL="1440" marR="0" lvl="0" indent="0" algn="ctr" rtl="0">
              <a:lnSpc>
                <a:spcPct val="100000"/>
              </a:lnSpc>
              <a:spcBef>
                <a:spcPts val="0"/>
              </a:spcBef>
              <a:spcAft>
                <a:spcPts val="0"/>
              </a:spcAft>
              <a:buClr>
                <a:srgbClr val="000000"/>
              </a:buClr>
              <a:buSzPts val="3200"/>
              <a:buFont typeface="Arial"/>
              <a:buNone/>
            </a:pPr>
            <a:endParaRPr lang="es-ES" sz="3200" b="1" dirty="0">
              <a:solidFill>
                <a:srgbClr val="FFFFFF"/>
              </a:solidFill>
              <a:latin typeface="Tahoma"/>
              <a:ea typeface="Tahoma"/>
              <a:cs typeface="Tahoma"/>
              <a:sym typeface="Tahoma"/>
            </a:endParaRPr>
          </a:p>
          <a:p>
            <a:pPr marL="1440" marR="0" lvl="0" indent="0" algn="ctr" rtl="0">
              <a:lnSpc>
                <a:spcPct val="100000"/>
              </a:lnSpc>
              <a:spcBef>
                <a:spcPts val="0"/>
              </a:spcBef>
              <a:spcAft>
                <a:spcPts val="0"/>
              </a:spcAft>
              <a:buClr>
                <a:srgbClr val="000000"/>
              </a:buClr>
              <a:buSzPts val="3200"/>
              <a:buFont typeface="Arial"/>
              <a:buNone/>
            </a:pPr>
            <a:r>
              <a:rPr lang="es-CO" sz="2800" b="1" i="0" u="none" strike="noStrike" cap="none" dirty="0">
                <a:solidFill>
                  <a:schemeClr val="bg1"/>
                </a:solidFill>
                <a:latin typeface="Arial"/>
                <a:ea typeface="Arial"/>
                <a:cs typeface="Arial"/>
                <a:sym typeface="Arial"/>
              </a:rPr>
              <a:t>JESÚS ARIEL GONZÁLEZ BONILLA</a:t>
            </a:r>
          </a:p>
          <a:p>
            <a:pPr marL="0" marR="0" lvl="0" indent="0" algn="l" rtl="0">
              <a:lnSpc>
                <a:spcPct val="100000"/>
              </a:lnSpc>
              <a:spcBef>
                <a:spcPts val="51"/>
              </a:spcBef>
              <a:spcAft>
                <a:spcPts val="0"/>
              </a:spcAft>
              <a:buClr>
                <a:srgbClr val="000000"/>
              </a:buClr>
              <a:buSzPts val="3200"/>
              <a:buFont typeface="Arial"/>
              <a:buNone/>
            </a:pPr>
            <a:endParaRPr sz="3200" b="0" i="0" u="none" strike="noStrike" cap="none" dirty="0">
              <a:solidFill>
                <a:srgbClr val="000000"/>
              </a:solidFill>
              <a:latin typeface="Arial"/>
              <a:ea typeface="Arial"/>
              <a:cs typeface="Arial"/>
              <a:sym typeface="Arial"/>
            </a:endParaRPr>
          </a:p>
        </p:txBody>
      </p:sp>
      <p:sp>
        <p:nvSpPr>
          <p:cNvPr id="54" name="Google Shape;54;p1"/>
          <p:cNvSpPr/>
          <p:nvPr/>
        </p:nvSpPr>
        <p:spPr>
          <a:xfrm>
            <a:off x="5634600" y="4998664"/>
            <a:ext cx="6093720" cy="1396364"/>
          </a:xfrm>
          <a:prstGeom prst="rect">
            <a:avLst/>
          </a:prstGeom>
          <a:noFill/>
          <a:ln>
            <a:noFill/>
          </a:ln>
        </p:spPr>
        <p:txBody>
          <a:bodyPr spcFirstLastPara="1" wrap="square" lIns="90000" tIns="45000" rIns="90000" bIns="45000" anchor="t" anchorCtr="0">
            <a:spAutoFit/>
          </a:bodyPr>
          <a:lstStyle/>
          <a:p>
            <a:pPr marL="12600" marR="0" lvl="0" indent="0" algn="ctr" rtl="0">
              <a:lnSpc>
                <a:spcPct val="100000"/>
              </a:lnSpc>
              <a:spcBef>
                <a:spcPts val="0"/>
              </a:spcBef>
              <a:spcAft>
                <a:spcPts val="0"/>
              </a:spcAft>
              <a:buClr>
                <a:srgbClr val="000000"/>
              </a:buClr>
              <a:buSzPts val="2800"/>
              <a:buFont typeface="Arial"/>
              <a:buNone/>
            </a:pPr>
            <a:r>
              <a:rPr lang="es-ES" sz="2800" b="1" i="0" u="none" strike="noStrike" cap="none" dirty="0">
                <a:solidFill>
                  <a:srgbClr val="000000"/>
                </a:solidFill>
                <a:latin typeface="Tahoma"/>
                <a:ea typeface="Tahoma"/>
                <a:cs typeface="Tahoma"/>
                <a:sym typeface="Tahoma"/>
              </a:rPr>
              <a:t>SISTEMAS DISTRIBUIDOS</a:t>
            </a:r>
            <a:endParaRPr sz="2800" b="0" i="0" u="none" strike="noStrike" cap="none" dirty="0">
              <a:solidFill>
                <a:srgbClr val="000000"/>
              </a:solidFill>
              <a:latin typeface="Arial"/>
              <a:ea typeface="Arial"/>
              <a:cs typeface="Arial"/>
              <a:sym typeface="Arial"/>
            </a:endParaRPr>
          </a:p>
          <a:p>
            <a:pPr marL="0" marR="0" lvl="0" indent="0" algn="l" rtl="0">
              <a:lnSpc>
                <a:spcPct val="100000"/>
              </a:lnSpc>
              <a:spcBef>
                <a:spcPts val="51"/>
              </a:spcBef>
              <a:spcAft>
                <a:spcPts val="0"/>
              </a:spcAft>
              <a:buClr>
                <a:srgbClr val="000000"/>
              </a:buClr>
              <a:buSzPts val="2800"/>
              <a:buFont typeface="Arial"/>
              <a:buNone/>
            </a:pP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dirty="0">
                <a:solidFill>
                  <a:srgbClr val="000000"/>
                </a:solidFill>
                <a:latin typeface="Tahoma"/>
                <a:ea typeface="Tahoma"/>
                <a:cs typeface="Tahoma"/>
                <a:sym typeface="Tahoma"/>
              </a:rPr>
              <a:t>202</a:t>
            </a:r>
            <a:r>
              <a:rPr lang="es-ES" sz="2800" b="1" dirty="0">
                <a:latin typeface="Tahoma"/>
                <a:ea typeface="Tahoma"/>
                <a:cs typeface="Tahoma"/>
                <a:sym typeface="Tahoma"/>
              </a:rPr>
              <a:t>6-1</a:t>
            </a:r>
            <a:endParaRPr sz="2800" b="0" i="0" u="none" strike="noStrike" cap="none" dirty="0">
              <a:solidFill>
                <a:srgbClr val="000000"/>
              </a:solidFill>
              <a:latin typeface="Arial"/>
              <a:ea typeface="Arial"/>
              <a:cs typeface="Arial"/>
              <a:sym typeface="Arial"/>
            </a:endParaRPr>
          </a:p>
        </p:txBody>
      </p:sp>
      <p:pic>
        <p:nvPicPr>
          <p:cNvPr id="8" name="Imagen 7" descr="Imagen de la pantalla de un video juego&#10;&#10;El contenido generado por IA puede ser incorrecto.">
            <a:extLst>
              <a:ext uri="{FF2B5EF4-FFF2-40B4-BE49-F238E27FC236}">
                <a16:creationId xmlns:a16="http://schemas.microsoft.com/office/drawing/2014/main" id="{059DA0FF-0821-1D5A-EB2D-8FAEF60CACC4}"/>
              </a:ext>
            </a:extLst>
          </p:cNvPr>
          <p:cNvPicPr>
            <a:picLocks noChangeAspect="1"/>
          </p:cNvPicPr>
          <p:nvPr/>
        </p:nvPicPr>
        <p:blipFill>
          <a:blip r:embed="rId3"/>
          <a:stretch>
            <a:fillRect/>
          </a:stretch>
        </p:blipFill>
        <p:spPr>
          <a:xfrm>
            <a:off x="5143500" y="0"/>
            <a:ext cx="7048500" cy="45070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aphicFrame>
        <p:nvGraphicFramePr>
          <p:cNvPr id="59" name="Google Shape;59;p2"/>
          <p:cNvGraphicFramePr/>
          <p:nvPr>
            <p:extLst>
              <p:ext uri="{D42A27DB-BD31-4B8C-83A1-F6EECF244321}">
                <p14:modId xmlns:p14="http://schemas.microsoft.com/office/powerpoint/2010/main" val="2810570756"/>
              </p:ext>
            </p:extLst>
          </p:nvPr>
        </p:nvGraphicFramePr>
        <p:xfrm>
          <a:off x="711360" y="1016640"/>
          <a:ext cx="10520650" cy="4934765"/>
        </p:xfrm>
        <a:graphic>
          <a:graphicData uri="http://schemas.openxmlformats.org/drawingml/2006/table">
            <a:tbl>
              <a:tblPr>
                <a:noFill/>
                <a:tableStyleId>{58972E22-CE3F-40E4-946A-D1752B916D21}</a:tableStyleId>
              </a:tblPr>
              <a:tblGrid>
                <a:gridCol w="10520650">
                  <a:extLst>
                    <a:ext uri="{9D8B030D-6E8A-4147-A177-3AD203B41FA5}">
                      <a16:colId xmlns:a16="http://schemas.microsoft.com/office/drawing/2014/main" val="20000"/>
                    </a:ext>
                  </a:extLst>
                </a:gridCol>
              </a:tblGrid>
              <a:tr h="481675">
                <a:tc>
                  <a:txBody>
                    <a:bodyPr/>
                    <a:lstStyle/>
                    <a:p>
                      <a:pPr marL="91440" marR="0" lvl="0" indent="0" algn="l" rtl="0">
                        <a:lnSpc>
                          <a:spcPct val="100000"/>
                        </a:lnSpc>
                        <a:spcBef>
                          <a:spcPts val="0"/>
                        </a:spcBef>
                        <a:spcAft>
                          <a:spcPts val="0"/>
                        </a:spcAft>
                        <a:buClr>
                          <a:srgbClr val="000000"/>
                        </a:buClr>
                        <a:buSzPts val="2600"/>
                        <a:buFont typeface="Arial"/>
                        <a:buNone/>
                      </a:pPr>
                      <a:r>
                        <a:rPr lang="es-ES" sz="2600" b="1" u="none" strike="noStrike" cap="none">
                          <a:solidFill>
                            <a:srgbClr val="000000"/>
                          </a:solidFill>
                          <a:latin typeface="Calibri"/>
                          <a:ea typeface="Calibri"/>
                          <a:cs typeface="Calibri"/>
                          <a:sym typeface="Calibri"/>
                        </a:rPr>
                        <a:t>Temas a Desarrollar</a:t>
                      </a:r>
                      <a:endParaRPr sz="2600" b="0" u="none" strike="noStrike" cap="none">
                        <a:solidFill>
                          <a:srgbClr val="000000"/>
                        </a:solidFill>
                        <a:latin typeface="Arial"/>
                        <a:ea typeface="Arial"/>
                        <a:cs typeface="Arial"/>
                        <a:sym typeface="Arial"/>
                      </a:endParaRPr>
                    </a:p>
                  </a:txBody>
                  <a:tcPr marL="91450" marR="9145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4447075">
                <a:tc>
                  <a:txBody>
                    <a:bodyPr/>
                    <a:lstStyle/>
                    <a:p>
                      <a:pPr marL="434520" marR="0" lvl="0" indent="-342720" algn="l" rtl="0">
                        <a:lnSpc>
                          <a:spcPct val="100000"/>
                        </a:lnSpc>
                        <a:spcBef>
                          <a:spcPts val="0"/>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Presentación Docente</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Socialización acuerdo pedagógico</a:t>
                      </a:r>
                      <a:r>
                        <a:rPr lang="es-ES" sz="2200" dirty="0"/>
                        <a:t> y</a:t>
                      </a:r>
                      <a:r>
                        <a:rPr lang="es-ES" sz="2200" b="0" u="none" strike="noStrike" cap="none" dirty="0">
                          <a:solidFill>
                            <a:srgbClr val="000000"/>
                          </a:solidFill>
                          <a:latin typeface="Arial"/>
                          <a:ea typeface="Arial"/>
                          <a:cs typeface="Arial"/>
                          <a:sym typeface="Arial"/>
                        </a:rPr>
                        <a:t> contenidos</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Metodología</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RAA</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Criterios de evaluación</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Bibliografía</a:t>
                      </a:r>
                      <a:endParaRPr sz="2200" b="0" u="none" strike="noStrike" cap="none" dirty="0">
                        <a:solidFill>
                          <a:srgbClr val="000000"/>
                        </a:solidFill>
                        <a:latin typeface="Arial"/>
                        <a:ea typeface="Arial"/>
                        <a:cs typeface="Arial"/>
                        <a:sym typeface="Arial"/>
                      </a:endParaRPr>
                    </a:p>
                    <a:p>
                      <a:pPr marL="434520" marR="0" lvl="0" indent="-342720" algn="l" rtl="0">
                        <a:lnSpc>
                          <a:spcPct val="100000"/>
                        </a:lnSpc>
                        <a:spcBef>
                          <a:spcPts val="249"/>
                        </a:spcBef>
                        <a:spcAft>
                          <a:spcPts val="0"/>
                        </a:spcAft>
                        <a:buClr>
                          <a:srgbClr val="000000"/>
                        </a:buClr>
                        <a:buSzPts val="2200"/>
                        <a:buFont typeface="Noto Sans Symbols"/>
                        <a:buChar char="●"/>
                      </a:pPr>
                      <a:r>
                        <a:rPr lang="es-ES" sz="2200" b="0" u="none" strike="noStrike" cap="none" dirty="0">
                          <a:solidFill>
                            <a:srgbClr val="000000"/>
                          </a:solidFill>
                          <a:latin typeface="Arial"/>
                          <a:ea typeface="Arial"/>
                          <a:cs typeface="Arial"/>
                          <a:sym typeface="Arial"/>
                        </a:rPr>
                        <a:t>Conocimientos previos - diagnóstico </a:t>
                      </a:r>
                      <a:endParaRPr sz="2200" b="0" u="none" strike="noStrike" cap="none" dirty="0">
                        <a:solidFill>
                          <a:srgbClr val="000000"/>
                        </a:solidFill>
                        <a:latin typeface="Arial"/>
                        <a:ea typeface="Arial"/>
                        <a:cs typeface="Arial"/>
                        <a:sym typeface="Arial"/>
                      </a:endParaRPr>
                    </a:p>
                    <a:p>
                      <a:pPr marL="91440" marR="0" lvl="0" indent="0" algn="l" rtl="0">
                        <a:lnSpc>
                          <a:spcPct val="100000"/>
                        </a:lnSpc>
                        <a:spcBef>
                          <a:spcPts val="249"/>
                        </a:spcBef>
                        <a:spcAft>
                          <a:spcPts val="0"/>
                        </a:spcAft>
                        <a:buClr>
                          <a:srgbClr val="000000"/>
                        </a:buClr>
                        <a:buSzPts val="1600"/>
                        <a:buFont typeface="Arial"/>
                        <a:buNone/>
                      </a:pPr>
                      <a:endParaRPr sz="1600" b="0" u="none" strike="noStrike" cap="none" dirty="0">
                        <a:solidFill>
                          <a:srgbClr val="000000"/>
                        </a:solidFill>
                        <a:latin typeface="Arial"/>
                        <a:ea typeface="Arial"/>
                        <a:cs typeface="Arial"/>
                        <a:sym typeface="Arial"/>
                      </a:endParaRPr>
                    </a:p>
                    <a:p>
                      <a:pPr marL="91440" marR="0" lvl="0" indent="0" algn="l" rtl="0">
                        <a:lnSpc>
                          <a:spcPct val="100000"/>
                        </a:lnSpc>
                        <a:spcBef>
                          <a:spcPts val="249"/>
                        </a:spcBef>
                        <a:spcAft>
                          <a:spcPts val="0"/>
                        </a:spcAft>
                        <a:buClr>
                          <a:srgbClr val="000000"/>
                        </a:buClr>
                        <a:buSzPts val="2200"/>
                        <a:buFont typeface="Arial"/>
                        <a:buNone/>
                      </a:pPr>
                      <a:r>
                        <a:rPr lang="es-ES" sz="2200" b="1" u="none" strike="noStrike" cap="none" dirty="0">
                          <a:solidFill>
                            <a:srgbClr val="000000"/>
                          </a:solidFill>
                          <a:latin typeface="Arial"/>
                          <a:ea typeface="Arial"/>
                          <a:cs typeface="Arial"/>
                          <a:sym typeface="Arial"/>
                        </a:rPr>
                        <a:t>Objetivo:</a:t>
                      </a:r>
                      <a:endParaRPr sz="2200" b="0" u="none" strike="noStrike" cap="none" dirty="0">
                        <a:solidFill>
                          <a:srgbClr val="000000"/>
                        </a:solidFill>
                        <a:latin typeface="Arial"/>
                        <a:ea typeface="Arial"/>
                        <a:cs typeface="Arial"/>
                        <a:sym typeface="Arial"/>
                      </a:endParaRPr>
                    </a:p>
                    <a:p>
                      <a:pPr marL="91440" marR="0" lvl="0" indent="0" algn="just" rtl="0">
                        <a:lnSpc>
                          <a:spcPct val="100000"/>
                        </a:lnSpc>
                        <a:spcBef>
                          <a:spcPts val="249"/>
                        </a:spcBef>
                        <a:spcAft>
                          <a:spcPts val="0"/>
                        </a:spcAft>
                        <a:buClr>
                          <a:srgbClr val="000000"/>
                        </a:buClr>
                        <a:buSzPts val="2200"/>
                        <a:buFont typeface="Arial"/>
                        <a:buNone/>
                      </a:pPr>
                      <a:r>
                        <a:rPr lang="es-ES" sz="2200" b="0" u="none" strike="noStrike" cap="none" dirty="0">
                          <a:solidFill>
                            <a:srgbClr val="000000"/>
                          </a:solidFill>
                          <a:latin typeface="Arial"/>
                          <a:ea typeface="Arial"/>
                          <a:cs typeface="Arial"/>
                          <a:sym typeface="Arial"/>
                        </a:rPr>
                        <a:t>Socializar las normas, regla y directrices a tener en cuenta en la asignatura Sistemas Distribuidos.</a:t>
                      </a:r>
                      <a:endParaRPr sz="2200" b="0" u="none" strike="noStrike" cap="none" dirty="0">
                        <a:solidFill>
                          <a:srgbClr val="000000"/>
                        </a:solidFill>
                        <a:latin typeface="Arial"/>
                        <a:ea typeface="Arial"/>
                        <a:cs typeface="Arial"/>
                        <a:sym typeface="Arial"/>
                      </a:endParaRPr>
                    </a:p>
                  </a:txBody>
                  <a:tcPr marL="91450" marR="9145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p:nvPr/>
        </p:nvSpPr>
        <p:spPr>
          <a:xfrm>
            <a:off x="0" y="355680"/>
            <a:ext cx="8568000" cy="621720"/>
          </a:xfrm>
          <a:prstGeom prst="rect">
            <a:avLst/>
          </a:prstGeom>
          <a:noFill/>
          <a:ln>
            <a:noFill/>
          </a:ln>
        </p:spPr>
        <p:txBody>
          <a:bodyPr spcFirstLastPara="1" wrap="square" lIns="72700" tIns="36350" rIns="72700" bIns="36350"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Identificación Syllabus </a:t>
            </a:r>
            <a:endParaRPr sz="4000" b="0" i="0" u="none" strike="noStrike" cap="none">
              <a:solidFill>
                <a:srgbClr val="000000"/>
              </a:solidFill>
              <a:latin typeface="Arial"/>
              <a:ea typeface="Arial"/>
              <a:cs typeface="Arial"/>
              <a:sym typeface="Arial"/>
            </a:endParaRPr>
          </a:p>
        </p:txBody>
      </p:sp>
      <p:graphicFrame>
        <p:nvGraphicFramePr>
          <p:cNvPr id="65" name="Google Shape;65;p4"/>
          <p:cNvGraphicFramePr/>
          <p:nvPr>
            <p:extLst>
              <p:ext uri="{D42A27DB-BD31-4B8C-83A1-F6EECF244321}">
                <p14:modId xmlns:p14="http://schemas.microsoft.com/office/powerpoint/2010/main" val="1207173776"/>
              </p:ext>
            </p:extLst>
          </p:nvPr>
        </p:nvGraphicFramePr>
        <p:xfrm>
          <a:off x="1699697" y="1041731"/>
          <a:ext cx="8792625" cy="5187202"/>
        </p:xfrm>
        <a:graphic>
          <a:graphicData uri="http://schemas.openxmlformats.org/drawingml/2006/table">
            <a:tbl>
              <a:tblPr>
                <a:noFill/>
                <a:tableStyleId>{58972E22-CE3F-40E4-946A-D1752B916D21}</a:tableStyleId>
              </a:tblPr>
              <a:tblGrid>
                <a:gridCol w="4145750">
                  <a:extLst>
                    <a:ext uri="{9D8B030D-6E8A-4147-A177-3AD203B41FA5}">
                      <a16:colId xmlns:a16="http://schemas.microsoft.com/office/drawing/2014/main" val="20000"/>
                    </a:ext>
                  </a:extLst>
                </a:gridCol>
                <a:gridCol w="3185275">
                  <a:extLst>
                    <a:ext uri="{9D8B030D-6E8A-4147-A177-3AD203B41FA5}">
                      <a16:colId xmlns:a16="http://schemas.microsoft.com/office/drawing/2014/main" val="20001"/>
                    </a:ext>
                  </a:extLst>
                </a:gridCol>
                <a:gridCol w="1461600">
                  <a:extLst>
                    <a:ext uri="{9D8B030D-6E8A-4147-A177-3AD203B41FA5}">
                      <a16:colId xmlns:a16="http://schemas.microsoft.com/office/drawing/2014/main" val="20002"/>
                    </a:ext>
                  </a:extLst>
                </a:gridCol>
              </a:tblGrid>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FACULTAD</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Ingeniería </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hMerge="1">
                  <a:txBody>
                    <a:bodyPr/>
                    <a:lstStyle/>
                    <a:p>
                      <a:endParaRPr lang="es-CO"/>
                    </a:p>
                  </a:txBody>
                  <a:tcPr/>
                </a:tc>
                <a:extLst>
                  <a:ext uri="{0D108BD9-81ED-4DB2-BD59-A6C34878D82A}">
                    <a16:rowId xmlns:a16="http://schemas.microsoft.com/office/drawing/2014/main" val="10000"/>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PROGRAMA ACADÉMICO</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Ingeniería de </a:t>
                      </a:r>
                      <a:r>
                        <a:rPr lang="es-ES" sz="1300" b="1" dirty="0">
                          <a:latin typeface="Calibri"/>
                          <a:ea typeface="Calibri"/>
                          <a:cs typeface="Calibri"/>
                          <a:sym typeface="Calibri"/>
                        </a:rPr>
                        <a:t>S</a:t>
                      </a:r>
                      <a:r>
                        <a:rPr lang="es-ES" sz="1300" b="1" u="none" strike="noStrike" cap="none" dirty="0">
                          <a:solidFill>
                            <a:srgbClr val="000000"/>
                          </a:solidFill>
                          <a:latin typeface="Calibri"/>
                          <a:ea typeface="Calibri"/>
                          <a:cs typeface="Calibri"/>
                          <a:sym typeface="Calibri"/>
                        </a:rPr>
                        <a:t>istemas</a:t>
                      </a:r>
                      <a:endParaRPr sz="1300" b="0"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hMerge="1">
                  <a:txBody>
                    <a:bodyPr/>
                    <a:lstStyle/>
                    <a:p>
                      <a:endParaRPr lang="es-CO"/>
                    </a:p>
                  </a:txBody>
                  <a:tcPr/>
                </a:tc>
                <a:extLst>
                  <a:ext uri="{0D108BD9-81ED-4DB2-BD59-A6C34878D82A}">
                    <a16:rowId xmlns:a16="http://schemas.microsoft.com/office/drawing/2014/main" val="10001"/>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NOMBRE DEL CURSO</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gridSpan="2">
                  <a:txBody>
                    <a:bodyPr/>
                    <a:lstStyle/>
                    <a:p>
                      <a:pPr marL="0" marR="0" lvl="0" indent="0" algn="l"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Sistemas Distribuidos</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hMerge="1">
                  <a:txBody>
                    <a:bodyPr/>
                    <a:lstStyle/>
                    <a:p>
                      <a:endParaRPr lang="es-CO"/>
                    </a:p>
                  </a:txBody>
                  <a:tcPr/>
                </a:tc>
                <a:extLst>
                  <a:ext uri="{0D108BD9-81ED-4DB2-BD59-A6C34878D82A}">
                    <a16:rowId xmlns:a16="http://schemas.microsoft.com/office/drawing/2014/main" val="10002"/>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CÓDIGO DEL CURSO</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82739</a:t>
                      </a:r>
                      <a:endParaRPr sz="1300" b="0"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No aplica (  )</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extLst>
                  <a:ext uri="{0D108BD9-81ED-4DB2-BD59-A6C34878D82A}">
                    <a16:rowId xmlns:a16="http://schemas.microsoft.com/office/drawing/2014/main" val="10003"/>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SEMESTRE</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dirty="0">
                          <a:latin typeface="Calibri"/>
                          <a:ea typeface="Calibri"/>
                          <a:cs typeface="Calibri"/>
                          <a:sym typeface="Calibri"/>
                        </a:rPr>
                        <a:t>1</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No aplica (  )</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extLst>
                  <a:ext uri="{0D108BD9-81ED-4DB2-BD59-A6C34878D82A}">
                    <a16:rowId xmlns:a16="http://schemas.microsoft.com/office/drawing/2014/main" val="10004"/>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 DE CRÉDITOS</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3</a:t>
                      </a:r>
                      <a:endParaRPr sz="1300" b="0"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No aplica (  )</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extLst>
                  <a:ext uri="{0D108BD9-81ED-4DB2-BD59-A6C34878D82A}">
                    <a16:rowId xmlns:a16="http://schemas.microsoft.com/office/drawing/2014/main" val="10005"/>
                  </a:ext>
                </a:extLst>
              </a:tr>
              <a:tr h="275311">
                <a:tc rowSpan="3">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HORAS DE TRABAJO ACADÉMICO </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Presencial: 64</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hMerge="1">
                  <a:txBody>
                    <a:bodyPr/>
                    <a:lstStyle/>
                    <a:p>
                      <a:endParaRPr lang="es-CO"/>
                    </a:p>
                  </a:txBody>
                  <a:tcPr/>
                </a:tc>
                <a:extLst>
                  <a:ext uri="{0D108BD9-81ED-4DB2-BD59-A6C34878D82A}">
                    <a16:rowId xmlns:a16="http://schemas.microsoft.com/office/drawing/2014/main" val="10006"/>
                  </a:ext>
                </a:extLst>
              </a:tr>
              <a:tr h="275311">
                <a:tc vMerge="1">
                  <a:txBody>
                    <a:bodyPr/>
                    <a:lstStyle/>
                    <a:p>
                      <a:endParaRPr lang="es-CO"/>
                    </a:p>
                  </a:txBody>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Trabajo independiente: </a:t>
                      </a:r>
                      <a:r>
                        <a:rPr lang="es-ES" sz="1300" b="1" i="0" u="none" strike="noStrike" cap="none" dirty="0">
                          <a:solidFill>
                            <a:srgbClr val="000000"/>
                          </a:solidFill>
                          <a:effectLst/>
                          <a:latin typeface="Arial"/>
                          <a:ea typeface="Calibri"/>
                          <a:cs typeface="Arial"/>
                          <a:sym typeface="Arial"/>
                        </a:rPr>
                        <a:t>80</a:t>
                      </a:r>
                      <a:endParaRPr sz="1300" b="1"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hMerge="1">
                  <a:txBody>
                    <a:bodyPr/>
                    <a:lstStyle/>
                    <a:p>
                      <a:endParaRPr lang="es-CO"/>
                    </a:p>
                  </a:txBody>
                  <a:tcPr/>
                </a:tc>
                <a:extLst>
                  <a:ext uri="{0D108BD9-81ED-4DB2-BD59-A6C34878D82A}">
                    <a16:rowId xmlns:a16="http://schemas.microsoft.com/office/drawing/2014/main" val="10007"/>
                  </a:ext>
                </a:extLst>
              </a:tr>
              <a:tr h="275311">
                <a:tc vMerge="1">
                  <a:txBody>
                    <a:bodyPr/>
                    <a:lstStyle/>
                    <a:p>
                      <a:endParaRPr lang="es-CO"/>
                    </a:p>
                  </a:txBody>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Total: 144</a:t>
                      </a:r>
                      <a:endParaRPr sz="1300" b="0" u="none" strike="noStrike" cap="none" dirty="0">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hMerge="1">
                  <a:txBody>
                    <a:bodyPr/>
                    <a:lstStyle/>
                    <a:p>
                      <a:endParaRPr lang="es-CO"/>
                    </a:p>
                  </a:txBody>
                  <a:tcPr/>
                </a:tc>
                <a:extLst>
                  <a:ext uri="{0D108BD9-81ED-4DB2-BD59-A6C34878D82A}">
                    <a16:rowId xmlns:a16="http://schemas.microsoft.com/office/drawing/2014/main" val="10008"/>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NIVEL DE FORMACIÓN</a:t>
                      </a:r>
                      <a:endParaRPr sz="1300" b="0" u="none" strike="noStrike" cap="none">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Pregrado (x ) Posgrado (  ) No aplica (  )</a:t>
                      </a:r>
                      <a:endParaRPr sz="1300" b="0"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hMerge="1">
                  <a:txBody>
                    <a:bodyPr/>
                    <a:lstStyle/>
                    <a:p>
                      <a:endParaRPr lang="es-CO"/>
                    </a:p>
                  </a:txBody>
                  <a:tcPr/>
                </a:tc>
                <a:extLst>
                  <a:ext uri="{0D108BD9-81ED-4DB2-BD59-A6C34878D82A}">
                    <a16:rowId xmlns:a16="http://schemas.microsoft.com/office/drawing/2014/main" val="10009"/>
                  </a:ext>
                </a:extLst>
              </a:tr>
              <a:tr h="275311">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TIPO DE CURSO</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gridSpan="2">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a:solidFill>
                            <a:srgbClr val="000000"/>
                          </a:solidFill>
                          <a:latin typeface="Calibri"/>
                          <a:ea typeface="Calibri"/>
                          <a:cs typeface="Calibri"/>
                          <a:sym typeface="Calibri"/>
                        </a:rPr>
                        <a:t>Asignatura ( x) Módulo (   ) Curso (  )</a:t>
                      </a:r>
                      <a:endParaRPr sz="1300" b="0" u="none" strike="noStrike" cap="none">
                        <a:solidFill>
                          <a:srgbClr val="FFFFFF"/>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solidFill>
                      <a:srgbClr val="5B9BD5">
                        <a:alpha val="20000"/>
                      </a:srgbClr>
                    </a:solidFill>
                  </a:tcPr>
                </a:tc>
                <a:tc hMerge="1">
                  <a:txBody>
                    <a:bodyPr/>
                    <a:lstStyle/>
                    <a:p>
                      <a:endParaRPr lang="es-CO"/>
                    </a:p>
                  </a:txBody>
                  <a:tcPr/>
                </a:tc>
                <a:extLst>
                  <a:ext uri="{0D108BD9-81ED-4DB2-BD59-A6C34878D82A}">
                    <a16:rowId xmlns:a16="http://schemas.microsoft.com/office/drawing/2014/main" val="10010"/>
                  </a:ext>
                </a:extLst>
              </a:tr>
              <a:tr h="1836382">
                <a:tc>
                  <a:txBody>
                    <a:bodyPr/>
                    <a:lstStyle/>
                    <a:p>
                      <a:pPr marL="0" marR="0" lvl="0" indent="0" algn="just" rtl="0">
                        <a:lnSpc>
                          <a:spcPct val="115000"/>
                        </a:lnSpc>
                        <a:spcBef>
                          <a:spcPts val="0"/>
                        </a:spcBef>
                        <a:spcAft>
                          <a:spcPts val="0"/>
                        </a:spcAft>
                        <a:buClr>
                          <a:srgbClr val="000000"/>
                        </a:buClr>
                        <a:buSzPts val="1300"/>
                        <a:buFont typeface="Arial"/>
                        <a:buNone/>
                      </a:pPr>
                      <a:r>
                        <a:rPr lang="es-ES" sz="1300" b="1" u="none" strike="noStrike" cap="none" dirty="0">
                          <a:solidFill>
                            <a:srgbClr val="000000"/>
                          </a:solidFill>
                          <a:latin typeface="Calibri"/>
                          <a:ea typeface="Calibri"/>
                          <a:cs typeface="Calibri"/>
                          <a:sym typeface="Calibri"/>
                        </a:rPr>
                        <a:t>PERFIL DOCENTE</a:t>
                      </a:r>
                      <a:endParaRPr sz="1300" b="0" u="none" strike="noStrike" cap="none" dirty="0">
                        <a:solidFill>
                          <a:srgbClr val="000000"/>
                        </a:solidFill>
                        <a:latin typeface="Arial"/>
                        <a:ea typeface="Arial"/>
                        <a:cs typeface="Arial"/>
                        <a:sym typeface="Arial"/>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gridSpan="2">
                  <a:txBody>
                    <a:bodyPr/>
                    <a:lstStyle/>
                    <a:p>
                      <a:pPr marL="0" lvl="0" indent="0" algn="just" rtl="0">
                        <a:spcBef>
                          <a:spcPts val="0"/>
                        </a:spcBef>
                        <a:spcAft>
                          <a:spcPts val="1000"/>
                        </a:spcAft>
                        <a:buClr>
                          <a:schemeClr val="dk1"/>
                        </a:buClr>
                        <a:buSzPts val="1100"/>
                        <a:buFont typeface="Arial"/>
                        <a:buNone/>
                      </a:pPr>
                      <a:r>
                        <a:rPr lang="es-ES" sz="1200" b="1"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Ingeniero de sistemas, electrónico y/o afines, con formación y experiencia en Docencia Universitaria y Maestría en el área afín; experiencia en docencia universitaria.  Conocimientos en desarrollo de software usando Middleware y Creación de API para programación distribuida en lenguaje JavaScript o </a:t>
                      </a:r>
                      <a:r>
                        <a:rPr lang="es-ES" sz="1200" b="1" i="0" u="none" strike="noStrike" cap="non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TypeScript</a:t>
                      </a:r>
                      <a:r>
                        <a:rPr lang="es-ES" sz="1200" b="1"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 con </a:t>
                      </a:r>
                      <a:r>
                        <a:rPr lang="es-ES" sz="1200" b="1" i="0" u="none" strike="noStrike" cap="non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frameworks</a:t>
                      </a:r>
                      <a:r>
                        <a:rPr lang="es-ES" sz="1200" b="1"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 Node.js y Express.js. Profesional ético y moral con buen manejo de pedagogía.</a:t>
                      </a:r>
                      <a:endParaRPr lang="es-ES" sz="12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txBody>
                  <a:tcPr marL="52550" marR="525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5B9BD5"/>
                      </a:solidFill>
                      <a:prstDash val="solid"/>
                      <a:round/>
                      <a:headEnd type="none" w="sm" len="sm"/>
                      <a:tailEnd type="none" w="sm" len="sm"/>
                    </a:lnT>
                    <a:lnB w="12225" cap="flat" cmpd="sng">
                      <a:solidFill>
                        <a:srgbClr val="5B9BD5"/>
                      </a:solidFill>
                      <a:prstDash val="solid"/>
                      <a:round/>
                      <a:headEnd type="none" w="sm" len="sm"/>
                      <a:tailEnd type="none" w="sm" len="sm"/>
                    </a:lnB>
                  </a:tcPr>
                </a:tc>
                <a:tc hMerge="1">
                  <a:txBody>
                    <a:bodyPr/>
                    <a:lstStyle/>
                    <a:p>
                      <a:endParaRPr lang="es-CO"/>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5"/>
          <p:cNvSpPr txBox="1">
            <a:spLocks noGrp="1"/>
          </p:cNvSpPr>
          <p:nvPr>
            <p:ph type="title"/>
          </p:nvPr>
        </p:nvSpPr>
        <p:spPr>
          <a:xfrm>
            <a:off x="0" y="242640"/>
            <a:ext cx="8568000" cy="621720"/>
          </a:xfrm>
          <a:prstGeom prst="rect">
            <a:avLst/>
          </a:prstGeom>
          <a:noFill/>
          <a:ln>
            <a:noFill/>
          </a:ln>
        </p:spPr>
        <p:txBody>
          <a:bodyPr spcFirstLastPara="1" wrap="square" lIns="72700" tIns="36350" rIns="72700" bIns="36350" anchor="ctr" anchorCtr="0">
            <a:noAutofit/>
          </a:bodyPr>
          <a:lstStyle/>
          <a:p>
            <a:pPr marL="0" lvl="0" indent="0" algn="ctr" rtl="0">
              <a:lnSpc>
                <a:spcPct val="90000"/>
              </a:lnSpc>
              <a:spcBef>
                <a:spcPts val="0"/>
              </a:spcBef>
              <a:spcAft>
                <a:spcPts val="0"/>
              </a:spcAft>
              <a:buClr>
                <a:srgbClr val="1D3F39"/>
              </a:buClr>
              <a:buSzPts val="4000"/>
              <a:buFont typeface="Calibri"/>
              <a:buNone/>
            </a:pPr>
            <a:r>
              <a:rPr lang="es-ES" sz="4000" b="1" strike="noStrike">
                <a:solidFill>
                  <a:srgbClr val="1D3F39"/>
                </a:solidFill>
                <a:latin typeface="Calibri"/>
                <a:ea typeface="Calibri"/>
                <a:cs typeface="Calibri"/>
                <a:sym typeface="Calibri"/>
              </a:rPr>
              <a:t>Justificación</a:t>
            </a:r>
            <a:endParaRPr sz="4000" b="0" strike="noStrike">
              <a:solidFill>
                <a:srgbClr val="000000"/>
              </a:solidFill>
              <a:latin typeface="Calibri"/>
              <a:ea typeface="Calibri"/>
              <a:cs typeface="Calibri"/>
              <a:sym typeface="Calibri"/>
            </a:endParaRPr>
          </a:p>
        </p:txBody>
      </p:sp>
      <p:sp>
        <p:nvSpPr>
          <p:cNvPr id="71" name="Google Shape;71;p5"/>
          <p:cNvSpPr/>
          <p:nvPr/>
        </p:nvSpPr>
        <p:spPr>
          <a:xfrm>
            <a:off x="917459" y="1185591"/>
            <a:ext cx="9579000" cy="2563637"/>
          </a:xfrm>
          <a:prstGeom prst="rect">
            <a:avLst/>
          </a:prstGeom>
          <a:noFill/>
          <a:ln>
            <a:noFill/>
          </a:ln>
        </p:spPr>
        <p:txBody>
          <a:bodyPr spcFirstLastPara="1" wrap="square" lIns="0" tIns="15100" rIns="0" bIns="0" anchor="t" anchorCtr="0">
            <a:spAutoFit/>
          </a:bodyPr>
          <a:lstStyle/>
          <a:p>
            <a:pPr marL="0" lvl="0" indent="0" algn="just" rtl="0">
              <a:lnSpc>
                <a:spcPct val="115000"/>
              </a:lnSpc>
              <a:spcBef>
                <a:spcPts val="0"/>
              </a:spcBef>
              <a:spcAft>
                <a:spcPts val="0"/>
              </a:spcAft>
              <a:buClr>
                <a:schemeClr val="dk1"/>
              </a:buClr>
              <a:buSzPts val="1100"/>
              <a:buFont typeface="Arial"/>
              <a:buNone/>
            </a:pPr>
            <a:r>
              <a:rPr lang="es-ES" sz="1800" dirty="0">
                <a:solidFill>
                  <a:schemeClr val="dk1"/>
                </a:solidFill>
                <a:latin typeface="Calibri"/>
                <a:ea typeface="Calibri"/>
                <a:cs typeface="Calibri"/>
                <a:sym typeface="Calibri"/>
              </a:rPr>
              <a:t>El perfil de egreso de los estudiantes de Ingeniería de Sistemas se articula al perfil de desarrollador de software y por ello demanda desde el marcado laboral la habilidad para descentralizar la información y poder distribuir a nivel de código en la infraestructura que este posee; esto con el objetivo de buscar acoples que permitan trabajar sobre los mínimos recursos que el cliente posea y minimizar la inversión inicial. Estas habilidades, son de una manera más importantes en un ingeniero de sistemas que pueda: desarrollar, probar y mantener soluciones tecnológicas a bajo costo y con un nivel de complejidad que permita ser eficiente y robusto. Un proyecto distribuido permite escalabilidad, accesibilidad, liberación de carga y estabilidad para los servicios ofrecidos a usuarios finales..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7"/>
          <p:cNvSpPr txBox="1">
            <a:spLocks noGrp="1"/>
          </p:cNvSpPr>
          <p:nvPr>
            <p:ph type="title"/>
          </p:nvPr>
        </p:nvSpPr>
        <p:spPr>
          <a:xfrm>
            <a:off x="0" y="294120"/>
            <a:ext cx="8640000" cy="857880"/>
          </a:xfrm>
          <a:prstGeom prst="rect">
            <a:avLst/>
          </a:prstGeom>
          <a:noFill/>
          <a:ln>
            <a:noFill/>
          </a:ln>
        </p:spPr>
        <p:txBody>
          <a:bodyPr spcFirstLastPara="1" wrap="square" lIns="72700" tIns="36350" rIns="72700" bIns="36350" anchor="ctr" anchorCtr="0">
            <a:noAutofit/>
          </a:bodyPr>
          <a:lstStyle/>
          <a:p>
            <a:pPr marL="0" lvl="0" indent="0" algn="ctr" rtl="0">
              <a:lnSpc>
                <a:spcPct val="90000"/>
              </a:lnSpc>
              <a:spcBef>
                <a:spcPts val="0"/>
              </a:spcBef>
              <a:spcAft>
                <a:spcPts val="0"/>
              </a:spcAft>
              <a:buClr>
                <a:srgbClr val="1D3F39"/>
              </a:buClr>
              <a:buSzPts val="4000"/>
              <a:buFont typeface="Calibri"/>
              <a:buNone/>
            </a:pPr>
            <a:r>
              <a:rPr lang="es-ES" sz="4000" b="1" strike="noStrike">
                <a:solidFill>
                  <a:srgbClr val="1D3F39"/>
                </a:solidFill>
                <a:latin typeface="Calibri"/>
                <a:ea typeface="Calibri"/>
                <a:cs typeface="Calibri"/>
                <a:sym typeface="Calibri"/>
              </a:rPr>
              <a:t>Objetivo General</a:t>
            </a:r>
            <a:endParaRPr sz="4000" b="0" strike="noStrike">
              <a:solidFill>
                <a:srgbClr val="000000"/>
              </a:solidFill>
              <a:latin typeface="Calibri"/>
              <a:ea typeface="Calibri"/>
              <a:cs typeface="Calibri"/>
              <a:sym typeface="Calibri"/>
            </a:endParaRPr>
          </a:p>
        </p:txBody>
      </p:sp>
      <p:sp>
        <p:nvSpPr>
          <p:cNvPr id="77" name="Google Shape;77;p7"/>
          <p:cNvSpPr/>
          <p:nvPr/>
        </p:nvSpPr>
        <p:spPr>
          <a:xfrm>
            <a:off x="1351894" y="1420116"/>
            <a:ext cx="9736236" cy="1672111"/>
          </a:xfrm>
          <a:prstGeom prst="rect">
            <a:avLst/>
          </a:prstGeom>
          <a:noFill/>
          <a:ln>
            <a:noFill/>
          </a:ln>
        </p:spPr>
        <p:txBody>
          <a:bodyPr spcFirstLastPara="1" wrap="square" lIns="0" tIns="15100" rIns="0" bIns="0" anchor="t" anchorCtr="0">
            <a:spAutoFit/>
          </a:bodyPr>
          <a:lstStyle/>
          <a:p>
            <a:pPr marL="0" lvl="0" indent="0" algn="just" rtl="0">
              <a:spcBef>
                <a:spcPts val="1400"/>
              </a:spcBef>
              <a:spcAft>
                <a:spcPts val="0"/>
              </a:spcAft>
              <a:buClr>
                <a:schemeClr val="dk1"/>
              </a:buClr>
              <a:buSzPts val="1100"/>
              <a:buFont typeface="Arial"/>
              <a:buNone/>
            </a:pPr>
            <a:r>
              <a:rPr lang="es-ES" sz="2400" dirty="0">
                <a:solidFill>
                  <a:schemeClr val="dk1"/>
                </a:solidFill>
                <a:latin typeface="Calibri"/>
                <a:ea typeface="Calibri"/>
                <a:cs typeface="Calibri"/>
                <a:sym typeface="Calibri"/>
              </a:rPr>
              <a:t>Fundamentar al estudiante en el uso de lenguajes de programación a través del  cual se pueda aplicar estructuras de sistemas distribuidos para mejorar la escalabilidad, accesibilidad, liberación de carga y estabilidad de proyectos de software según requerimientos del cliente.</a:t>
            </a:r>
            <a:endParaRPr sz="2400" dirty="0">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8"/>
          <p:cNvSpPr txBox="1">
            <a:spLocks noGrp="1"/>
          </p:cNvSpPr>
          <p:nvPr>
            <p:ph type="title"/>
          </p:nvPr>
        </p:nvSpPr>
        <p:spPr>
          <a:xfrm>
            <a:off x="0" y="222120"/>
            <a:ext cx="8568000" cy="785880"/>
          </a:xfrm>
          <a:prstGeom prst="rect">
            <a:avLst/>
          </a:prstGeom>
          <a:noFill/>
          <a:ln>
            <a:noFill/>
          </a:ln>
        </p:spPr>
        <p:txBody>
          <a:bodyPr spcFirstLastPara="1" wrap="square" lIns="72700" tIns="36350" rIns="72700" bIns="36350" anchor="ctr" anchorCtr="0">
            <a:noAutofit/>
          </a:bodyPr>
          <a:lstStyle/>
          <a:p>
            <a:pPr marL="0" lvl="0" indent="0" algn="ctr" rtl="0">
              <a:lnSpc>
                <a:spcPct val="90000"/>
              </a:lnSpc>
              <a:spcBef>
                <a:spcPts val="0"/>
              </a:spcBef>
              <a:spcAft>
                <a:spcPts val="0"/>
              </a:spcAft>
              <a:buClr>
                <a:srgbClr val="1D3F39"/>
              </a:buClr>
              <a:buSzPts val="4000"/>
              <a:buFont typeface="Calibri"/>
              <a:buNone/>
            </a:pPr>
            <a:r>
              <a:rPr lang="es-ES" sz="4000" b="1" strike="noStrike">
                <a:solidFill>
                  <a:srgbClr val="1D3F39"/>
                </a:solidFill>
                <a:latin typeface="Calibri"/>
                <a:ea typeface="Calibri"/>
                <a:cs typeface="Calibri"/>
                <a:sym typeface="Calibri"/>
              </a:rPr>
              <a:t>Objetivos </a:t>
            </a:r>
            <a:r>
              <a:rPr lang="es-ES" sz="4000" b="1">
                <a:solidFill>
                  <a:srgbClr val="1D3F39"/>
                </a:solidFill>
                <a:latin typeface="Calibri"/>
                <a:ea typeface="Calibri"/>
                <a:cs typeface="Calibri"/>
                <a:sym typeface="Calibri"/>
              </a:rPr>
              <a:t>Específicos</a:t>
            </a:r>
            <a:endParaRPr sz="4000" b="0" strike="noStrike">
              <a:solidFill>
                <a:srgbClr val="000000"/>
              </a:solidFill>
              <a:latin typeface="Calibri"/>
              <a:ea typeface="Calibri"/>
              <a:cs typeface="Calibri"/>
              <a:sym typeface="Calibri"/>
            </a:endParaRPr>
          </a:p>
        </p:txBody>
      </p:sp>
      <p:sp>
        <p:nvSpPr>
          <p:cNvPr id="84" name="Google Shape;84;p8"/>
          <p:cNvSpPr/>
          <p:nvPr/>
        </p:nvSpPr>
        <p:spPr>
          <a:xfrm>
            <a:off x="1202760" y="1525320"/>
            <a:ext cx="10053360" cy="2169683"/>
          </a:xfrm>
          <a:prstGeom prst="rect">
            <a:avLst/>
          </a:prstGeom>
          <a:noFill/>
          <a:ln>
            <a:noFill/>
          </a:ln>
        </p:spPr>
        <p:txBody>
          <a:bodyPr spcFirstLastPara="1" wrap="square" lIns="0" tIns="15100" rIns="0" bIns="0" anchor="t" anchorCtr="0">
            <a:spAutoFit/>
          </a:bodyPr>
          <a:lstStyle/>
          <a:p>
            <a:pPr marL="457200" lvl="0" indent="-355600" algn="just" rtl="0">
              <a:spcBef>
                <a:spcPts val="0"/>
              </a:spcBef>
              <a:spcAft>
                <a:spcPts val="0"/>
              </a:spcAft>
              <a:buClr>
                <a:schemeClr val="dk1"/>
              </a:buClr>
              <a:buSzPts val="2000"/>
              <a:buFont typeface="Calibri"/>
              <a:buChar char="●"/>
            </a:pPr>
            <a:r>
              <a:rPr lang="es-ES" sz="2000" dirty="0">
                <a:latin typeface="Calibri"/>
                <a:ea typeface="Calibri"/>
                <a:cs typeface="Calibri"/>
                <a:sym typeface="Calibri"/>
              </a:rPr>
              <a:t>Dominar los conceptos clave de sistemas distribuidos a nivel de hardware y software.</a:t>
            </a:r>
          </a:p>
          <a:p>
            <a:pPr marL="457200" lvl="0" indent="-355600" algn="just" rtl="0">
              <a:spcBef>
                <a:spcPts val="0"/>
              </a:spcBef>
              <a:spcAft>
                <a:spcPts val="0"/>
              </a:spcAft>
              <a:buClr>
                <a:schemeClr val="dk1"/>
              </a:buClr>
              <a:buSzPts val="2000"/>
              <a:buFont typeface="Calibri"/>
              <a:buChar char="●"/>
            </a:pPr>
            <a:endParaRPr lang="es-ES" sz="2000" dirty="0">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s-ES" sz="2000" dirty="0">
                <a:latin typeface="Calibri"/>
                <a:ea typeface="Calibri"/>
                <a:cs typeface="Calibri"/>
                <a:sym typeface="Calibri"/>
              </a:rPr>
              <a:t>Desarrollar soluciones eficientes mediante el entendimiento profundo de problemas y el uso de arquitecturas distribuidas.</a:t>
            </a:r>
          </a:p>
          <a:p>
            <a:pPr marL="457200" lvl="0" indent="-355600" algn="just" rtl="0">
              <a:spcBef>
                <a:spcPts val="0"/>
              </a:spcBef>
              <a:spcAft>
                <a:spcPts val="0"/>
              </a:spcAft>
              <a:buClr>
                <a:schemeClr val="dk1"/>
              </a:buClr>
              <a:buSzPts val="2000"/>
              <a:buFont typeface="Calibri"/>
              <a:buChar char="●"/>
            </a:pPr>
            <a:endParaRPr lang="es-ES" sz="2000" dirty="0">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s-ES" sz="2000" dirty="0">
                <a:latin typeface="Calibri"/>
                <a:ea typeface="Calibri"/>
                <a:cs typeface="Calibri"/>
                <a:sym typeface="Calibri"/>
              </a:rPr>
              <a:t>Aplicar modelos de arquitectura distribuida en la resolución de problemas reales y empresariales utilizando lenguajes de programación de alto nivel.</a:t>
            </a:r>
            <a:endParaRPr sz="2000" dirty="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p:nvPr/>
        </p:nvSpPr>
        <p:spPr>
          <a:xfrm>
            <a:off x="0" y="286920"/>
            <a:ext cx="8568000" cy="111168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Resultados de aprendizaje de la asignatura</a:t>
            </a:r>
            <a:endParaRPr sz="4000" b="0" i="0" u="none" strike="noStrike" cap="none">
              <a:solidFill>
                <a:srgbClr val="000000"/>
              </a:solidFill>
              <a:latin typeface="Arial"/>
              <a:ea typeface="Arial"/>
              <a:cs typeface="Arial"/>
              <a:sym typeface="Arial"/>
            </a:endParaRPr>
          </a:p>
        </p:txBody>
      </p:sp>
      <p:graphicFrame>
        <p:nvGraphicFramePr>
          <p:cNvPr id="90" name="Google Shape;90;p19"/>
          <p:cNvGraphicFramePr/>
          <p:nvPr>
            <p:extLst>
              <p:ext uri="{D42A27DB-BD31-4B8C-83A1-F6EECF244321}">
                <p14:modId xmlns:p14="http://schemas.microsoft.com/office/powerpoint/2010/main" val="3004754992"/>
              </p:ext>
            </p:extLst>
          </p:nvPr>
        </p:nvGraphicFramePr>
        <p:xfrm>
          <a:off x="842400" y="2524320"/>
          <a:ext cx="10347475" cy="2383200"/>
        </p:xfrm>
        <a:graphic>
          <a:graphicData uri="http://schemas.openxmlformats.org/drawingml/2006/table">
            <a:tbl>
              <a:tblPr>
                <a:noFill/>
                <a:tableStyleId>{58972E22-CE3F-40E4-946A-D1752B916D21}</a:tableStyleId>
              </a:tblPr>
              <a:tblGrid>
                <a:gridCol w="2018525">
                  <a:extLst>
                    <a:ext uri="{9D8B030D-6E8A-4147-A177-3AD203B41FA5}">
                      <a16:colId xmlns:a16="http://schemas.microsoft.com/office/drawing/2014/main" val="20000"/>
                    </a:ext>
                  </a:extLst>
                </a:gridCol>
                <a:gridCol w="8328950">
                  <a:extLst>
                    <a:ext uri="{9D8B030D-6E8A-4147-A177-3AD203B41FA5}">
                      <a16:colId xmlns:a16="http://schemas.microsoft.com/office/drawing/2014/main" val="20001"/>
                    </a:ext>
                  </a:extLst>
                </a:gridCol>
              </a:tblGrid>
              <a:tr h="1121400">
                <a:tc>
                  <a:txBody>
                    <a:bodyPr/>
                    <a:lstStyle/>
                    <a:p>
                      <a:pPr marL="0" marR="0" lvl="0" indent="0" algn="just" rtl="0">
                        <a:lnSpc>
                          <a:spcPct val="115000"/>
                        </a:lnSpc>
                        <a:spcBef>
                          <a:spcPts val="0"/>
                        </a:spcBef>
                        <a:spcAft>
                          <a:spcPts val="0"/>
                        </a:spcAft>
                        <a:buClr>
                          <a:srgbClr val="000000"/>
                        </a:buClr>
                        <a:buSzPts val="3200"/>
                        <a:buFont typeface="Arial"/>
                        <a:buNone/>
                      </a:pPr>
                      <a:r>
                        <a:rPr lang="es-ES" sz="1800" b="1" u="none" strike="noStrike" cap="none">
                          <a:solidFill>
                            <a:srgbClr val="000000"/>
                          </a:solidFill>
                          <a:latin typeface="Calibri"/>
                          <a:ea typeface="Calibri"/>
                          <a:cs typeface="Calibri"/>
                          <a:sym typeface="Calibri"/>
                        </a:rPr>
                        <a:t>Código</a:t>
                      </a:r>
                      <a:endParaRPr sz="1800" u="none" strike="noStrike" cap="none">
                        <a:solidFill>
                          <a:srgbClr val="000000"/>
                        </a:solidFill>
                        <a:latin typeface="Calibri"/>
                        <a:ea typeface="Calibri"/>
                        <a:cs typeface="Calibri"/>
                        <a:sym typeface="Calibri"/>
                      </a:endParaRPr>
                    </a:p>
                  </a:txBody>
                  <a:tcPr marL="68400" marR="6840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CFD5E9"/>
                    </a:solidFill>
                  </a:tcPr>
                </a:tc>
                <a:tc>
                  <a:txBody>
                    <a:bodyPr/>
                    <a:lstStyle/>
                    <a:p>
                      <a:pPr marL="0" marR="0" lvl="0" indent="0" algn="ctr" rtl="0">
                        <a:lnSpc>
                          <a:spcPct val="115000"/>
                        </a:lnSpc>
                        <a:spcBef>
                          <a:spcPts val="0"/>
                        </a:spcBef>
                        <a:spcAft>
                          <a:spcPts val="0"/>
                        </a:spcAft>
                        <a:buClr>
                          <a:srgbClr val="000000"/>
                        </a:buClr>
                        <a:buSzPts val="3200"/>
                        <a:buFont typeface="Arial"/>
                        <a:buNone/>
                      </a:pPr>
                      <a:r>
                        <a:rPr lang="es-ES" sz="1800" b="1" u="none" strike="noStrike" cap="none">
                          <a:solidFill>
                            <a:srgbClr val="000000"/>
                          </a:solidFill>
                          <a:latin typeface="Calibri"/>
                          <a:ea typeface="Calibri"/>
                          <a:cs typeface="Calibri"/>
                          <a:sym typeface="Calibri"/>
                        </a:rPr>
                        <a:t>Declaración del RAA</a:t>
                      </a:r>
                      <a:endParaRPr sz="1800" u="none" strike="noStrike" cap="none">
                        <a:solidFill>
                          <a:srgbClr val="000000"/>
                        </a:solidFill>
                        <a:latin typeface="Calibri"/>
                        <a:ea typeface="Calibri"/>
                        <a:cs typeface="Calibri"/>
                        <a:sym typeface="Calibri"/>
                      </a:endParaRPr>
                    </a:p>
                  </a:txBody>
                  <a:tcPr marL="68400" marR="6840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CFD5E9"/>
                    </a:solidFill>
                  </a:tcPr>
                </a:tc>
                <a:extLst>
                  <a:ext uri="{0D108BD9-81ED-4DB2-BD59-A6C34878D82A}">
                    <a16:rowId xmlns:a16="http://schemas.microsoft.com/office/drawing/2014/main" val="10000"/>
                  </a:ext>
                </a:extLst>
              </a:tr>
              <a:tr h="1261800">
                <a:tc>
                  <a:txBody>
                    <a:bodyPr/>
                    <a:lstStyle/>
                    <a:p>
                      <a:pPr marL="0" marR="0" lvl="0" indent="0" algn="just" rtl="0">
                        <a:lnSpc>
                          <a:spcPct val="115000"/>
                        </a:lnSpc>
                        <a:spcBef>
                          <a:spcPts val="0"/>
                        </a:spcBef>
                        <a:spcAft>
                          <a:spcPts val="0"/>
                        </a:spcAft>
                        <a:buClr>
                          <a:srgbClr val="000000"/>
                        </a:buClr>
                        <a:buSzPts val="2000"/>
                        <a:buFont typeface="Arial"/>
                        <a:buNone/>
                      </a:pPr>
                      <a:r>
                        <a:rPr lang="es-ES" sz="1600" u="none" strike="noStrike" cap="none" dirty="0">
                          <a:solidFill>
                            <a:srgbClr val="000000"/>
                          </a:solidFill>
                          <a:latin typeface="Calibri"/>
                          <a:ea typeface="Calibri"/>
                          <a:cs typeface="Calibri"/>
                          <a:sym typeface="Calibri"/>
                        </a:rPr>
                        <a:t>N/A</a:t>
                      </a:r>
                      <a:endParaRPr sz="1600" u="none" strike="noStrike" cap="none" dirty="0">
                        <a:solidFill>
                          <a:srgbClr val="000000"/>
                        </a:solidFill>
                        <a:latin typeface="Calibri"/>
                        <a:ea typeface="Calibri"/>
                        <a:cs typeface="Calibri"/>
                        <a:sym typeface="Calibri"/>
                      </a:endParaRPr>
                    </a:p>
                  </a:txBody>
                  <a:tcPr marL="68400" marR="6840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8EBF4"/>
                    </a:solidFill>
                  </a:tcPr>
                </a:tc>
                <a:tc>
                  <a:txBody>
                    <a:bodyPr/>
                    <a:lstStyle/>
                    <a:p>
                      <a:pPr marL="0" lvl="0" indent="0" algn="just" rtl="0">
                        <a:spcBef>
                          <a:spcPts val="0"/>
                        </a:spcBef>
                        <a:spcAft>
                          <a:spcPts val="1000"/>
                        </a:spcAft>
                        <a:buClr>
                          <a:schemeClr val="dk1"/>
                        </a:buClr>
                        <a:buSzPts val="1100"/>
                        <a:buFont typeface="Arial"/>
                        <a:buNone/>
                      </a:pPr>
                      <a:r>
                        <a:rPr lang="es-ES" sz="1400" b="0" i="0" u="none" strike="noStrike" cap="none" dirty="0">
                          <a:solidFill>
                            <a:srgbClr val="000000"/>
                          </a:solidFill>
                          <a:effectLst/>
                          <a:latin typeface="Arial"/>
                          <a:ea typeface="Arial"/>
                          <a:cs typeface="Arial"/>
                          <a:sym typeface="Arial"/>
                        </a:rPr>
                        <a:t>Aplica técnicas, habilidades y herramientas modernas de Sistemas Distribuidos con criterios de calidad e integración.</a:t>
                      </a:r>
                      <a:endParaRPr sz="1600" u="none" strike="noStrike" cap="none" dirty="0">
                        <a:solidFill>
                          <a:srgbClr val="000000"/>
                        </a:solidFill>
                        <a:latin typeface="Calibri"/>
                        <a:ea typeface="Calibri"/>
                        <a:cs typeface="Calibri"/>
                        <a:sym typeface="Calibri"/>
                      </a:endParaRPr>
                    </a:p>
                  </a:txBody>
                  <a:tcPr marL="68400" marR="68400" marT="45725" marB="45725">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8EBF4"/>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9"/>
          <p:cNvSpPr/>
          <p:nvPr/>
        </p:nvSpPr>
        <p:spPr>
          <a:xfrm>
            <a:off x="799680" y="705391"/>
            <a:ext cx="10592640" cy="5753968"/>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1800" b="1" i="0" u="none" strike="noStrike" cap="none" dirty="0">
                <a:solidFill>
                  <a:srgbClr val="000000"/>
                </a:solidFill>
                <a:latin typeface="Calibri"/>
                <a:ea typeface="Calibri"/>
                <a:cs typeface="Calibri"/>
                <a:sym typeface="Calibri"/>
              </a:rPr>
              <a:t>Unidad 0: Acuerdo Pedagógico</a:t>
            </a:r>
            <a:endParaRPr sz="1800" b="0" i="0" u="none" strike="noStrike" cap="none" dirty="0">
              <a:solidFill>
                <a:srgbClr val="000000"/>
              </a:solidFill>
              <a:latin typeface="Arial"/>
              <a:ea typeface="Arial"/>
              <a:cs typeface="Arial"/>
              <a:sym typeface="Arial"/>
            </a:endParaRPr>
          </a:p>
          <a:p>
            <a:pPr marL="457200" marR="0" lvl="0" indent="-342900" algn="l" rtl="0">
              <a:lnSpc>
                <a:spcPct val="115000"/>
              </a:lnSpc>
              <a:spcBef>
                <a:spcPts val="1001"/>
              </a:spcBef>
              <a:spcAft>
                <a:spcPts val="0"/>
              </a:spcAft>
              <a:buSzPts val="1800"/>
              <a:buChar char="•"/>
            </a:pPr>
            <a:r>
              <a:rPr lang="es-ES" sz="1200" dirty="0"/>
              <a:t>Metodología del curso.</a:t>
            </a:r>
            <a:endParaRPr sz="1200" dirty="0"/>
          </a:p>
          <a:p>
            <a:pPr marL="457200" marR="0" lvl="0" indent="-342900" algn="l" rtl="0">
              <a:lnSpc>
                <a:spcPct val="115000"/>
              </a:lnSpc>
              <a:spcBef>
                <a:spcPts val="1001"/>
              </a:spcBef>
              <a:spcAft>
                <a:spcPts val="0"/>
              </a:spcAft>
              <a:buSzPts val="1800"/>
              <a:buChar char="•"/>
            </a:pPr>
            <a:r>
              <a:rPr lang="es-ES" sz="1200" dirty="0"/>
              <a:t>Presaberes.</a:t>
            </a:r>
          </a:p>
          <a:p>
            <a:pPr marL="457200" marR="0" lvl="0" indent="-342900" algn="l" rtl="0">
              <a:lnSpc>
                <a:spcPct val="115000"/>
              </a:lnSpc>
              <a:spcBef>
                <a:spcPts val="1001"/>
              </a:spcBef>
              <a:spcAft>
                <a:spcPts val="0"/>
              </a:spcAft>
              <a:buSzPts val="1800"/>
              <a:buChar char="•"/>
            </a:pP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1800" b="1" dirty="0">
                <a:latin typeface="Calibri"/>
                <a:ea typeface="Calibri"/>
                <a:cs typeface="Calibri"/>
                <a:sym typeface="Calibri"/>
              </a:rPr>
              <a:t>Unidad 1:  </a:t>
            </a:r>
          </a:p>
          <a:p>
            <a:pPr marL="457200" lvl="0" indent="-342900" algn="l" rtl="0">
              <a:lnSpc>
                <a:spcPct val="115000"/>
              </a:lnSpc>
              <a:spcBef>
                <a:spcPts val="1001"/>
              </a:spcBef>
              <a:spcAft>
                <a:spcPts val="0"/>
              </a:spcAft>
              <a:buSzPts val="1800"/>
              <a:buChar char="•"/>
            </a:pPr>
            <a:r>
              <a:rPr lang="es-ES" sz="1200" dirty="0"/>
              <a:t>Introducción a sistemas </a:t>
            </a:r>
            <a:r>
              <a:rPr lang="es-ES" sz="1200" dirty="0" err="1"/>
              <a:t>distribuids</a:t>
            </a:r>
            <a:endParaRPr lang="es-ES" sz="1200" dirty="0"/>
          </a:p>
          <a:p>
            <a:pPr marL="457200" lvl="0" indent="-342900" algn="l" rtl="0">
              <a:lnSpc>
                <a:spcPct val="115000"/>
              </a:lnSpc>
              <a:spcBef>
                <a:spcPts val="1001"/>
              </a:spcBef>
              <a:spcAft>
                <a:spcPts val="0"/>
              </a:spcAft>
              <a:buSzPts val="1800"/>
              <a:buChar char="•"/>
            </a:pPr>
            <a:r>
              <a:rPr lang="es-ES" sz="1200" dirty="0"/>
              <a:t>Ventajas y desventajas de los sistemas distribuidos</a:t>
            </a:r>
          </a:p>
          <a:p>
            <a:pPr marL="457200" lvl="0" indent="-342900" algn="l" rtl="0">
              <a:lnSpc>
                <a:spcPct val="115000"/>
              </a:lnSpc>
              <a:spcBef>
                <a:spcPts val="1001"/>
              </a:spcBef>
              <a:spcAft>
                <a:spcPts val="0"/>
              </a:spcAft>
              <a:buSzPts val="1800"/>
              <a:buChar char="•"/>
            </a:pPr>
            <a:r>
              <a:rPr lang="es-ES" sz="1200" dirty="0"/>
              <a:t>Aspectos del diseño de sistemas distribuidos.</a:t>
            </a:r>
          </a:p>
          <a:p>
            <a:pPr marL="457200" lvl="0" indent="-342900" algn="l" rtl="0">
              <a:lnSpc>
                <a:spcPct val="115000"/>
              </a:lnSpc>
              <a:spcBef>
                <a:spcPts val="1001"/>
              </a:spcBef>
              <a:spcAft>
                <a:spcPts val="0"/>
              </a:spcAft>
              <a:buSzPts val="1800"/>
              <a:buChar char="•"/>
            </a:pPr>
            <a:r>
              <a:rPr lang="es-ES" sz="1200" dirty="0"/>
              <a:t>Modelos de arquitecturas.</a:t>
            </a:r>
          </a:p>
          <a:p>
            <a:pPr marL="457200" lvl="0" indent="-342900" algn="l" rtl="0">
              <a:lnSpc>
                <a:spcPct val="115000"/>
              </a:lnSpc>
              <a:spcBef>
                <a:spcPts val="1001"/>
              </a:spcBef>
              <a:spcAft>
                <a:spcPts val="0"/>
              </a:spcAft>
              <a:buSzPts val="1800"/>
              <a:buChar char="•"/>
            </a:pPr>
            <a:r>
              <a:rPr lang="es-ES" sz="1200" dirty="0"/>
              <a:t>Instalación y puesta a punto de Node.js y entorno de desarrollo.</a:t>
            </a:r>
          </a:p>
          <a:p>
            <a:pPr marL="457200" lvl="0" indent="-342900" algn="l" rtl="0">
              <a:lnSpc>
                <a:spcPct val="115000"/>
              </a:lnSpc>
              <a:spcBef>
                <a:spcPts val="1001"/>
              </a:spcBef>
              <a:spcAft>
                <a:spcPts val="0"/>
              </a:spcAft>
              <a:buSzPts val="1800"/>
              <a:buChar char="•"/>
            </a:pPr>
            <a:r>
              <a:rPr lang="es-ES" sz="1200" dirty="0"/>
              <a:t>¿Qué es Node.js y Express?</a:t>
            </a:r>
          </a:p>
          <a:p>
            <a:pPr marL="457200" lvl="0" indent="-342900" algn="l" rtl="0">
              <a:lnSpc>
                <a:spcPct val="115000"/>
              </a:lnSpc>
              <a:spcBef>
                <a:spcPts val="1001"/>
              </a:spcBef>
              <a:spcAft>
                <a:spcPts val="0"/>
              </a:spcAft>
              <a:buSzPts val="1800"/>
              <a:buChar char="•"/>
            </a:pPr>
            <a:r>
              <a:rPr lang="es-ES" sz="1200" dirty="0"/>
              <a:t>¿Para qué sirve </a:t>
            </a:r>
            <a:r>
              <a:rPr lang="es-ES" sz="1200" dirty="0" err="1"/>
              <a:t>Node</a:t>
            </a:r>
            <a:r>
              <a:rPr lang="es-ES" sz="1200" dirty="0"/>
              <a:t> y </a:t>
            </a:r>
            <a:r>
              <a:rPr lang="es-ES" sz="1200" dirty="0" err="1"/>
              <a:t>Expres</a:t>
            </a:r>
            <a:r>
              <a:rPr lang="es-ES" sz="1200" dirty="0"/>
              <a:t>?</a:t>
            </a:r>
          </a:p>
          <a:p>
            <a:pPr marL="457200" lvl="0" indent="-342900" algn="l" rtl="0">
              <a:lnSpc>
                <a:spcPct val="115000"/>
              </a:lnSpc>
              <a:spcBef>
                <a:spcPts val="1001"/>
              </a:spcBef>
              <a:spcAft>
                <a:spcPts val="0"/>
              </a:spcAft>
              <a:buSzPts val="1800"/>
              <a:buChar char="•"/>
            </a:pPr>
            <a:r>
              <a:rPr lang="es-ES" sz="1200" dirty="0"/>
              <a:t>¿Qué es un Middleware?</a:t>
            </a:r>
          </a:p>
          <a:p>
            <a:pPr marL="457200" lvl="0" indent="-342900" algn="l" rtl="0">
              <a:lnSpc>
                <a:spcPct val="115000"/>
              </a:lnSpc>
              <a:spcBef>
                <a:spcPts val="1001"/>
              </a:spcBef>
              <a:spcAft>
                <a:spcPts val="0"/>
              </a:spcAft>
              <a:buSzPts val="1800"/>
              <a:buChar char="•"/>
            </a:pPr>
            <a:r>
              <a:rPr lang="es-ES" sz="1200" dirty="0"/>
              <a:t>¿Qué es un </a:t>
            </a:r>
            <a:r>
              <a:rPr lang="es-ES" sz="1200" dirty="0" err="1"/>
              <a:t>Router</a:t>
            </a:r>
            <a:r>
              <a:rPr lang="es-ES" sz="1200" dirty="0"/>
              <a:t> en Node.js?</a:t>
            </a:r>
          </a:p>
          <a:p>
            <a:pPr marL="457200" lvl="0" indent="-342900" algn="l" rtl="0">
              <a:lnSpc>
                <a:spcPct val="115000"/>
              </a:lnSpc>
              <a:spcBef>
                <a:spcPts val="1001"/>
              </a:spcBef>
              <a:spcAft>
                <a:spcPts val="0"/>
              </a:spcAft>
              <a:buSzPts val="1800"/>
              <a:buChar char="•"/>
            </a:pPr>
            <a:r>
              <a:rPr lang="es-ES" sz="1200" dirty="0"/>
              <a:t>¿Qué es un </a:t>
            </a:r>
            <a:r>
              <a:rPr lang="es-ES" sz="1200" dirty="0" err="1"/>
              <a:t>template</a:t>
            </a:r>
            <a:r>
              <a:rPr lang="es-ES" sz="1200" dirty="0"/>
              <a:t> </a:t>
            </a:r>
            <a:r>
              <a:rPr lang="es-ES" sz="1200" dirty="0" err="1"/>
              <a:t>engine</a:t>
            </a:r>
            <a:r>
              <a:rPr lang="es-ES" sz="1200" dirty="0"/>
              <a:t>?</a:t>
            </a:r>
          </a:p>
          <a:p>
            <a:pPr marL="457200" lvl="0" indent="-342900" algn="l" rtl="0">
              <a:lnSpc>
                <a:spcPct val="115000"/>
              </a:lnSpc>
              <a:spcBef>
                <a:spcPts val="1001"/>
              </a:spcBef>
              <a:spcAft>
                <a:spcPts val="0"/>
              </a:spcAft>
              <a:buSzPts val="1800"/>
              <a:buChar char="•"/>
            </a:pPr>
            <a:r>
              <a:rPr lang="es-ES" sz="1200" dirty="0"/>
              <a:t>Creación del servidor y el proyecto.</a:t>
            </a:r>
          </a:p>
          <a:p>
            <a:pPr marL="457200" lvl="0" indent="-342900" algn="l" rtl="0">
              <a:lnSpc>
                <a:spcPct val="115000"/>
              </a:lnSpc>
              <a:spcBef>
                <a:spcPts val="1001"/>
              </a:spcBef>
              <a:spcAft>
                <a:spcPts val="0"/>
              </a:spcAft>
              <a:buSzPts val="1800"/>
              <a:buChar char="•"/>
            </a:pPr>
            <a:r>
              <a:rPr lang="es-ES" sz="1200" dirty="0"/>
              <a:t>Creando el </a:t>
            </a:r>
            <a:r>
              <a:rPr lang="es-ES" sz="1200" dirty="0" err="1"/>
              <a:t>Router</a:t>
            </a:r>
            <a:r>
              <a:rPr lang="es-ES" sz="1200" dirty="0"/>
              <a:t> del proyecto a crear</a:t>
            </a:r>
          </a:p>
        </p:txBody>
      </p:sp>
      <p:sp>
        <p:nvSpPr>
          <p:cNvPr id="96" name="Google Shape;96;p9"/>
          <p:cNvSpPr/>
          <p:nvPr/>
        </p:nvSpPr>
        <p:spPr>
          <a:xfrm>
            <a:off x="-508001" y="122613"/>
            <a:ext cx="85291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s-ES" sz="2800" b="1" i="0" u="none" strike="noStrike" cap="none" dirty="0">
                <a:solidFill>
                  <a:srgbClr val="000000"/>
                </a:solidFill>
                <a:latin typeface="Calibri"/>
                <a:ea typeface="Calibri"/>
                <a:cs typeface="Calibri"/>
                <a:sym typeface="Calibri"/>
              </a:rPr>
              <a:t>Contenidos</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0"/>
          <p:cNvSpPr/>
          <p:nvPr/>
        </p:nvSpPr>
        <p:spPr>
          <a:xfrm>
            <a:off x="0" y="272880"/>
            <a:ext cx="8529120" cy="7012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s-ES" sz="4000" b="1" i="0" u="none" strike="noStrike" cap="none" dirty="0">
                <a:solidFill>
                  <a:srgbClr val="000000"/>
                </a:solidFill>
                <a:latin typeface="Calibri"/>
                <a:ea typeface="Calibri"/>
                <a:cs typeface="Calibri"/>
                <a:sym typeface="Calibri"/>
              </a:rPr>
              <a:t>Contenidos</a:t>
            </a:r>
            <a:endParaRPr sz="4000" b="0" i="0" u="none" strike="noStrike" cap="none" dirty="0">
              <a:solidFill>
                <a:srgbClr val="000000"/>
              </a:solidFill>
              <a:latin typeface="Arial"/>
              <a:ea typeface="Arial"/>
              <a:cs typeface="Arial"/>
              <a:sym typeface="Arial"/>
            </a:endParaRPr>
          </a:p>
        </p:txBody>
      </p:sp>
      <p:sp>
        <p:nvSpPr>
          <p:cNvPr id="4" name="Google Shape;95;p9">
            <a:extLst>
              <a:ext uri="{FF2B5EF4-FFF2-40B4-BE49-F238E27FC236}">
                <a16:creationId xmlns:a16="http://schemas.microsoft.com/office/drawing/2014/main" id="{4F21D99E-2361-D346-7EB6-ADF5DDEA69F4}"/>
              </a:ext>
            </a:extLst>
          </p:cNvPr>
          <p:cNvSpPr/>
          <p:nvPr/>
        </p:nvSpPr>
        <p:spPr>
          <a:xfrm>
            <a:off x="900312" y="974160"/>
            <a:ext cx="10592640" cy="4490545"/>
          </a:xfrm>
          <a:prstGeom prst="rect">
            <a:avLst/>
          </a:prstGeom>
          <a:noFill/>
          <a:ln>
            <a:noFill/>
          </a:ln>
        </p:spPr>
        <p:txBody>
          <a:bodyPr spcFirstLastPara="1" wrap="square" lIns="90000" tIns="45000" rIns="90000" bIns="45000" anchor="t" anchorCtr="0">
            <a:spAutoFit/>
          </a:bodyPr>
          <a:lstStyle/>
          <a:p>
            <a:pPr marL="114300" marR="0" lvl="0" algn="l" rtl="0">
              <a:lnSpc>
                <a:spcPct val="115000"/>
              </a:lnSpc>
              <a:spcBef>
                <a:spcPts val="1001"/>
              </a:spcBef>
              <a:spcAft>
                <a:spcPts val="0"/>
              </a:spcAft>
              <a:buSzPts val="1800"/>
            </a:pP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1800" b="1" dirty="0">
                <a:latin typeface="Calibri"/>
                <a:ea typeface="Calibri"/>
                <a:cs typeface="Calibri"/>
                <a:sym typeface="Calibri"/>
              </a:rPr>
              <a:t>Unidad 2:  </a:t>
            </a:r>
          </a:p>
          <a:p>
            <a:pPr marL="457200" lvl="0" indent="-342900" algn="l" rtl="0">
              <a:lnSpc>
                <a:spcPct val="115000"/>
              </a:lnSpc>
              <a:spcBef>
                <a:spcPts val="1001"/>
              </a:spcBef>
              <a:spcAft>
                <a:spcPts val="0"/>
              </a:spcAft>
              <a:buSzPts val="1800"/>
              <a:buChar char="•"/>
            </a:pPr>
            <a:r>
              <a:rPr lang="es-ES" sz="1200" dirty="0"/>
              <a:t>Habilitando </a:t>
            </a:r>
            <a:r>
              <a:rPr lang="es-ES" sz="1200" dirty="0" err="1"/>
              <a:t>Handlebars</a:t>
            </a:r>
            <a:r>
              <a:rPr lang="es-ES" sz="1200" dirty="0"/>
              <a:t>, creando el master page.</a:t>
            </a:r>
          </a:p>
          <a:p>
            <a:pPr marL="457200" lvl="0" indent="-342900" algn="l" rtl="0">
              <a:lnSpc>
                <a:spcPct val="115000"/>
              </a:lnSpc>
              <a:spcBef>
                <a:spcPts val="1001"/>
              </a:spcBef>
              <a:spcAft>
                <a:spcPts val="0"/>
              </a:spcAft>
              <a:buSzPts val="1800"/>
              <a:buChar char="•"/>
            </a:pPr>
            <a:r>
              <a:rPr lang="es-ES" sz="1200" dirty="0"/>
              <a:t>Agregado contenido a la página principal y lógica de las rutas</a:t>
            </a:r>
          </a:p>
          <a:p>
            <a:pPr marL="457200" lvl="0" indent="-342900" algn="l" rtl="0">
              <a:lnSpc>
                <a:spcPct val="115000"/>
              </a:lnSpc>
              <a:spcBef>
                <a:spcPts val="1001"/>
              </a:spcBef>
              <a:spcAft>
                <a:spcPts val="0"/>
              </a:spcAft>
              <a:buSzPts val="1800"/>
              <a:buChar char="•"/>
            </a:pPr>
            <a:r>
              <a:rPr lang="es-ES" sz="1200" dirty="0"/>
              <a:t>Configurando Base de datos – Mongo</a:t>
            </a:r>
          </a:p>
          <a:p>
            <a:pPr marL="457200" lvl="0" indent="-342900" algn="l" rtl="0">
              <a:lnSpc>
                <a:spcPct val="115000"/>
              </a:lnSpc>
              <a:spcBef>
                <a:spcPts val="1001"/>
              </a:spcBef>
              <a:spcAft>
                <a:spcPts val="0"/>
              </a:spcAft>
              <a:buSzPts val="1800"/>
              <a:buChar char="•"/>
            </a:pPr>
            <a:r>
              <a:rPr lang="es-ES" sz="1200" dirty="0"/>
              <a:t>Instalando </a:t>
            </a:r>
            <a:r>
              <a:rPr lang="es-ES" sz="1200" dirty="0" err="1"/>
              <a:t>Mongoose</a:t>
            </a:r>
            <a:r>
              <a:rPr lang="es-ES" sz="1200" dirty="0"/>
              <a:t> y conectando a la base de datos</a:t>
            </a:r>
          </a:p>
          <a:p>
            <a:pPr marL="457200" lvl="0" indent="-342900" algn="l" rtl="0">
              <a:lnSpc>
                <a:spcPct val="115000"/>
              </a:lnSpc>
              <a:spcBef>
                <a:spcPts val="1001"/>
              </a:spcBef>
              <a:spcAft>
                <a:spcPts val="0"/>
              </a:spcAft>
              <a:buSzPts val="1800"/>
              <a:buChar char="•"/>
            </a:pPr>
            <a:r>
              <a:rPr lang="es-ES" sz="1200" dirty="0"/>
              <a:t>Conociendo el Lenguaje de </a:t>
            </a:r>
            <a:r>
              <a:rPr lang="es-ES" sz="1200" dirty="0" err="1"/>
              <a:t>Mongoose</a:t>
            </a:r>
            <a:r>
              <a:rPr lang="es-ES" sz="1200" dirty="0"/>
              <a:t> ORM</a:t>
            </a:r>
          </a:p>
          <a:p>
            <a:pPr marL="457200" lvl="0" indent="-342900" algn="l" rtl="0">
              <a:lnSpc>
                <a:spcPct val="115000"/>
              </a:lnSpc>
              <a:spcBef>
                <a:spcPts val="1001"/>
              </a:spcBef>
              <a:spcAft>
                <a:spcPts val="0"/>
              </a:spcAft>
              <a:buSzPts val="1800"/>
              <a:buChar char="•"/>
            </a:pPr>
            <a:r>
              <a:rPr lang="es-ES" sz="1200" dirty="0" err="1"/>
              <a:t>Hooks</a:t>
            </a:r>
            <a:r>
              <a:rPr lang="es-ES" sz="1200" dirty="0"/>
              <a:t> para </a:t>
            </a:r>
            <a:r>
              <a:rPr lang="es-ES" sz="1200" dirty="0" err="1"/>
              <a:t>Mongoose</a:t>
            </a:r>
            <a:endParaRPr lang="es-ES" sz="1200" dirty="0"/>
          </a:p>
          <a:p>
            <a:pPr marL="457200" lvl="0" indent="-342900">
              <a:lnSpc>
                <a:spcPct val="115000"/>
              </a:lnSpc>
              <a:spcBef>
                <a:spcPts val="1001"/>
              </a:spcBef>
              <a:buSzPts val="1800"/>
              <a:buChar char="•"/>
            </a:pPr>
            <a:r>
              <a:rPr lang="es-CO" dirty="0"/>
              <a:t>Interactuando con </a:t>
            </a:r>
            <a:r>
              <a:rPr lang="es-CO" dirty="0" err="1"/>
              <a:t>Helpers</a:t>
            </a:r>
            <a:endParaRPr lang="es-CO" dirty="0"/>
          </a:p>
          <a:p>
            <a:pPr marL="457200" lvl="0" indent="-342900">
              <a:lnSpc>
                <a:spcPct val="115000"/>
              </a:lnSpc>
              <a:spcBef>
                <a:spcPts val="1001"/>
              </a:spcBef>
              <a:buSzPts val="1800"/>
              <a:buChar char="•"/>
            </a:pPr>
            <a:r>
              <a:rPr lang="es-ES" sz="1200" dirty="0"/>
              <a:t>Paso de </a:t>
            </a:r>
            <a:r>
              <a:rPr lang="es-ES" sz="1200" dirty="0" err="1"/>
              <a:t>Helpers</a:t>
            </a:r>
            <a:r>
              <a:rPr lang="es-ES" sz="1200" dirty="0"/>
              <a:t> a la base de datos y contenidos de la página</a:t>
            </a:r>
          </a:p>
          <a:p>
            <a:pPr marL="457200" lvl="0" indent="-342900">
              <a:lnSpc>
                <a:spcPct val="115000"/>
              </a:lnSpc>
              <a:spcBef>
                <a:spcPts val="1001"/>
              </a:spcBef>
              <a:buSzPts val="1800"/>
              <a:buChar char="•"/>
            </a:pPr>
            <a:r>
              <a:rPr lang="es-ES" sz="1200" dirty="0"/>
              <a:t>Creando las vacantes, formularios</a:t>
            </a:r>
          </a:p>
          <a:p>
            <a:pPr marL="457200" lvl="0" indent="-342900">
              <a:lnSpc>
                <a:spcPct val="115000"/>
              </a:lnSpc>
              <a:spcBef>
                <a:spcPts val="1001"/>
              </a:spcBef>
              <a:buSzPts val="1800"/>
              <a:buChar char="•"/>
            </a:pPr>
            <a:r>
              <a:rPr lang="es-ES" sz="1200" dirty="0"/>
              <a:t>¿Qué es un </a:t>
            </a:r>
            <a:r>
              <a:rPr lang="es-ES" sz="1200" dirty="0" err="1"/>
              <a:t>template</a:t>
            </a:r>
            <a:r>
              <a:rPr lang="es-ES" sz="1200" dirty="0"/>
              <a:t> </a:t>
            </a:r>
            <a:r>
              <a:rPr lang="es-ES" sz="1200" dirty="0" err="1"/>
              <a:t>engine</a:t>
            </a:r>
            <a:r>
              <a:rPr lang="es-ES" sz="1200" dirty="0"/>
              <a:t>?</a:t>
            </a:r>
          </a:p>
          <a:p>
            <a:pPr marL="457200" lvl="0" indent="-342900" algn="l" rtl="0">
              <a:lnSpc>
                <a:spcPct val="115000"/>
              </a:lnSpc>
              <a:spcBef>
                <a:spcPts val="1001"/>
              </a:spcBef>
              <a:spcAft>
                <a:spcPts val="0"/>
              </a:spcAft>
              <a:buSzPts val="1800"/>
              <a:buChar char="•"/>
            </a:pPr>
            <a:r>
              <a:rPr lang="es-ES" sz="1200" dirty="0"/>
              <a:t>Agregando </a:t>
            </a:r>
            <a:r>
              <a:rPr lang="es-ES" sz="1200" dirty="0" err="1"/>
              <a:t>WebPack</a:t>
            </a:r>
            <a:r>
              <a:rPr lang="es-ES" sz="1200" dirty="0"/>
              <a:t> a la Aplicación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1"/>
          <p:cNvSpPr/>
          <p:nvPr/>
        </p:nvSpPr>
        <p:spPr>
          <a:xfrm>
            <a:off x="0" y="236880"/>
            <a:ext cx="8568000" cy="7012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s-ES" sz="4000" b="1" i="0" u="none" strike="noStrike" cap="none">
                <a:solidFill>
                  <a:srgbClr val="000000"/>
                </a:solidFill>
                <a:latin typeface="Calibri"/>
                <a:ea typeface="Calibri"/>
                <a:cs typeface="Calibri"/>
                <a:sym typeface="Calibri"/>
              </a:rPr>
              <a:t>Contenidos</a:t>
            </a:r>
            <a:endParaRPr sz="4000" b="0" i="0" u="none" strike="noStrike" cap="none">
              <a:solidFill>
                <a:srgbClr val="000000"/>
              </a:solidFill>
              <a:latin typeface="Arial"/>
              <a:ea typeface="Arial"/>
              <a:cs typeface="Arial"/>
              <a:sym typeface="Arial"/>
            </a:endParaRPr>
          </a:p>
        </p:txBody>
      </p:sp>
      <p:sp>
        <p:nvSpPr>
          <p:cNvPr id="5" name="Google Shape;95;p9">
            <a:extLst>
              <a:ext uri="{FF2B5EF4-FFF2-40B4-BE49-F238E27FC236}">
                <a16:creationId xmlns:a16="http://schemas.microsoft.com/office/drawing/2014/main" id="{D94C12AF-4534-A99C-7C4D-211FDBEB533B}"/>
              </a:ext>
            </a:extLst>
          </p:cNvPr>
          <p:cNvSpPr/>
          <p:nvPr/>
        </p:nvSpPr>
        <p:spPr>
          <a:xfrm>
            <a:off x="883379" y="787893"/>
            <a:ext cx="10592640" cy="5512363"/>
          </a:xfrm>
          <a:prstGeom prst="rect">
            <a:avLst/>
          </a:prstGeom>
          <a:noFill/>
          <a:ln>
            <a:noFill/>
          </a:ln>
        </p:spPr>
        <p:txBody>
          <a:bodyPr spcFirstLastPara="1" wrap="square" lIns="90000" tIns="45000" rIns="90000" bIns="45000" anchor="t" anchorCtr="0">
            <a:spAutoFit/>
          </a:bodyPr>
          <a:lstStyle/>
          <a:p>
            <a:pPr marL="114300" marR="0" lvl="0" algn="l" rtl="0">
              <a:lnSpc>
                <a:spcPct val="115000"/>
              </a:lnSpc>
              <a:spcBef>
                <a:spcPts val="1001"/>
              </a:spcBef>
              <a:spcAft>
                <a:spcPts val="0"/>
              </a:spcAft>
              <a:buSzPts val="1800"/>
            </a:pP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1800" b="1" dirty="0">
                <a:latin typeface="Calibri"/>
                <a:ea typeface="Calibri"/>
                <a:cs typeface="Calibri"/>
                <a:sym typeface="Calibri"/>
              </a:rPr>
              <a:t>Unidad 3:  </a:t>
            </a:r>
          </a:p>
          <a:p>
            <a:pPr marL="457200" lvl="0" indent="-342900" algn="l" rtl="0">
              <a:lnSpc>
                <a:spcPct val="115000"/>
              </a:lnSpc>
              <a:spcBef>
                <a:spcPts val="1001"/>
              </a:spcBef>
              <a:spcAft>
                <a:spcPts val="0"/>
              </a:spcAft>
              <a:buSzPts val="1800"/>
              <a:buChar char="•"/>
            </a:pPr>
            <a:r>
              <a:rPr lang="es-ES" sz="1200" dirty="0"/>
              <a:t>Guardando información por medio del ORM</a:t>
            </a:r>
          </a:p>
          <a:p>
            <a:pPr marL="457200" lvl="0" indent="-342900" algn="l" rtl="0">
              <a:lnSpc>
                <a:spcPct val="115000"/>
              </a:lnSpc>
              <a:spcBef>
                <a:spcPts val="1001"/>
              </a:spcBef>
              <a:spcAft>
                <a:spcPts val="0"/>
              </a:spcAft>
              <a:buSzPts val="1800"/>
              <a:buChar char="•"/>
            </a:pPr>
            <a:r>
              <a:rPr lang="es-ES" sz="1200" dirty="0"/>
              <a:t>Mostrando datos desde la base de datos MongoDB</a:t>
            </a:r>
          </a:p>
          <a:p>
            <a:pPr marL="457200" lvl="0" indent="-342900" algn="l" rtl="0">
              <a:lnSpc>
                <a:spcPct val="115000"/>
              </a:lnSpc>
              <a:spcBef>
                <a:spcPts val="1001"/>
              </a:spcBef>
              <a:spcAft>
                <a:spcPts val="0"/>
              </a:spcAft>
              <a:buSzPts val="1800"/>
              <a:buChar char="•"/>
            </a:pPr>
            <a:r>
              <a:rPr lang="es-ES" sz="1200" dirty="0"/>
              <a:t>Dando acceso a la base de datos desde cualquier dispositivo.</a:t>
            </a:r>
          </a:p>
          <a:p>
            <a:pPr marL="457200" lvl="0" indent="-342900" algn="l" rtl="0">
              <a:lnSpc>
                <a:spcPct val="115000"/>
              </a:lnSpc>
              <a:spcBef>
                <a:spcPts val="1001"/>
              </a:spcBef>
              <a:spcAft>
                <a:spcPts val="0"/>
              </a:spcAft>
              <a:buSzPts val="1800"/>
              <a:buChar char="•"/>
            </a:pPr>
            <a:r>
              <a:rPr lang="es-ES" sz="1200" dirty="0"/>
              <a:t>Edición de las vacantes</a:t>
            </a:r>
          </a:p>
          <a:p>
            <a:pPr marL="457200" lvl="0" indent="-342900" algn="l" rtl="0">
              <a:lnSpc>
                <a:spcPct val="115000"/>
              </a:lnSpc>
              <a:spcBef>
                <a:spcPts val="1001"/>
              </a:spcBef>
              <a:spcAft>
                <a:spcPts val="0"/>
              </a:spcAft>
              <a:buSzPts val="1800"/>
              <a:buChar char="•"/>
            </a:pPr>
            <a:r>
              <a:rPr lang="es-ES" sz="1200" dirty="0"/>
              <a:t>Conociendo el Lenguaje de </a:t>
            </a:r>
            <a:r>
              <a:rPr lang="es-ES" sz="1200" dirty="0" err="1"/>
              <a:t>Mongoose</a:t>
            </a:r>
            <a:r>
              <a:rPr lang="es-ES" sz="1200" dirty="0"/>
              <a:t> ORM</a:t>
            </a:r>
          </a:p>
          <a:p>
            <a:pPr marL="457200" lvl="0" indent="-342900" algn="l" rtl="0">
              <a:lnSpc>
                <a:spcPct val="115000"/>
              </a:lnSpc>
              <a:spcBef>
                <a:spcPts val="1001"/>
              </a:spcBef>
              <a:spcAft>
                <a:spcPts val="0"/>
              </a:spcAft>
              <a:buSzPts val="1800"/>
              <a:buChar char="•"/>
            </a:pPr>
            <a:r>
              <a:rPr lang="es-ES" sz="1200" dirty="0"/>
              <a:t>Creación de usuarios</a:t>
            </a:r>
          </a:p>
          <a:p>
            <a:pPr marL="457200" lvl="0" indent="-342900" algn="l" rtl="0">
              <a:lnSpc>
                <a:spcPct val="115000"/>
              </a:lnSpc>
              <a:spcBef>
                <a:spcPts val="1001"/>
              </a:spcBef>
              <a:spcAft>
                <a:spcPts val="0"/>
              </a:spcAft>
              <a:buSzPts val="1800"/>
              <a:buChar char="•"/>
            </a:pPr>
            <a:r>
              <a:rPr lang="es-CO" dirty="0"/>
              <a:t>Autenticación de usuarios</a:t>
            </a:r>
          </a:p>
          <a:p>
            <a:pPr marL="457200" lvl="0" indent="-342900" algn="l" rtl="0">
              <a:lnSpc>
                <a:spcPct val="115000"/>
              </a:lnSpc>
              <a:spcBef>
                <a:spcPts val="1001"/>
              </a:spcBef>
              <a:spcAft>
                <a:spcPts val="0"/>
              </a:spcAft>
              <a:buSzPts val="1800"/>
              <a:buChar char="•"/>
            </a:pPr>
            <a:r>
              <a:rPr lang="es-ES" sz="1200" dirty="0"/>
              <a:t>Creando el panel de administración  y ajustes del mismo.</a:t>
            </a:r>
          </a:p>
          <a:p>
            <a:pPr marL="457200" lvl="0" indent="-342900" algn="l" rtl="0">
              <a:lnSpc>
                <a:spcPct val="115000"/>
              </a:lnSpc>
              <a:spcBef>
                <a:spcPts val="1001"/>
              </a:spcBef>
              <a:spcAft>
                <a:spcPts val="0"/>
              </a:spcAft>
              <a:buSzPts val="1800"/>
              <a:buChar char="•"/>
            </a:pPr>
            <a:r>
              <a:rPr lang="es-ES" sz="1200" dirty="0"/>
              <a:t>Eliminar vacantes </a:t>
            </a:r>
          </a:p>
          <a:p>
            <a:pPr marL="457200" lvl="0" indent="-342900" algn="l" rtl="0">
              <a:lnSpc>
                <a:spcPct val="115000"/>
              </a:lnSpc>
              <a:spcBef>
                <a:spcPts val="1001"/>
              </a:spcBef>
              <a:spcAft>
                <a:spcPts val="0"/>
              </a:spcAft>
              <a:buSzPts val="1800"/>
              <a:buChar char="•"/>
            </a:pPr>
            <a:r>
              <a:rPr lang="es-ES" sz="1200" dirty="0"/>
              <a:t>Subir imágenes de perfil</a:t>
            </a:r>
          </a:p>
          <a:p>
            <a:pPr marL="457200" lvl="0" indent="-342900" algn="l" rtl="0">
              <a:lnSpc>
                <a:spcPct val="115000"/>
              </a:lnSpc>
              <a:spcBef>
                <a:spcPts val="1001"/>
              </a:spcBef>
              <a:spcAft>
                <a:spcPts val="0"/>
              </a:spcAft>
              <a:buSzPts val="1800"/>
              <a:buChar char="•"/>
            </a:pPr>
            <a:r>
              <a:rPr lang="es-ES" sz="1200" dirty="0"/>
              <a:t>Formulario para contactar al reclutador</a:t>
            </a:r>
          </a:p>
          <a:p>
            <a:pPr marL="457200" lvl="0" indent="-342900" algn="l" rtl="0">
              <a:lnSpc>
                <a:spcPct val="115000"/>
              </a:lnSpc>
              <a:spcBef>
                <a:spcPts val="1001"/>
              </a:spcBef>
              <a:spcAft>
                <a:spcPts val="0"/>
              </a:spcAft>
              <a:buSzPts val="1800"/>
              <a:buChar char="•"/>
            </a:pPr>
            <a:r>
              <a:rPr lang="es-ES" sz="1200" dirty="0"/>
              <a:t>Agregar funcionalidad olvide mi </a:t>
            </a:r>
            <a:r>
              <a:rPr lang="es-ES" sz="1200" dirty="0" err="1"/>
              <a:t>password</a:t>
            </a:r>
            <a:endParaRPr lang="es-ES" sz="1200" dirty="0"/>
          </a:p>
          <a:p>
            <a:pPr marL="457200" lvl="0" indent="-342900" algn="l" rtl="0">
              <a:lnSpc>
                <a:spcPct val="115000"/>
              </a:lnSpc>
              <a:spcBef>
                <a:spcPts val="1001"/>
              </a:spcBef>
              <a:spcAft>
                <a:spcPts val="0"/>
              </a:spcAft>
              <a:buSzPts val="1800"/>
              <a:buChar char="•"/>
            </a:pPr>
            <a:r>
              <a:rPr lang="es-ES" sz="1200" dirty="0"/>
              <a:t>Últimos ajustes y despliegue.</a:t>
            </a:r>
          </a:p>
          <a:p>
            <a:pPr marL="457200" lvl="0" indent="-342900" algn="l" rtl="0">
              <a:lnSpc>
                <a:spcPct val="115000"/>
              </a:lnSpc>
              <a:spcBef>
                <a:spcPts val="1001"/>
              </a:spcBef>
              <a:spcAft>
                <a:spcPts val="0"/>
              </a:spcAft>
              <a:buSzPts val="1800"/>
              <a:buChar char="•"/>
            </a:pPr>
            <a:r>
              <a:rPr lang="es-ES" sz="1200" dirty="0"/>
              <a:t>Presentación Proyecto final 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5"/>
          <p:cNvSpPr txBox="1">
            <a:spLocks noGrp="1"/>
          </p:cNvSpPr>
          <p:nvPr>
            <p:ph type="title"/>
          </p:nvPr>
        </p:nvSpPr>
        <p:spPr>
          <a:xfrm>
            <a:off x="0" y="478467"/>
            <a:ext cx="8577720" cy="1236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D3F39"/>
              </a:buClr>
              <a:buSzPts val="4000"/>
              <a:buFont typeface="Calibri"/>
              <a:buNone/>
            </a:pPr>
            <a:r>
              <a:rPr lang="es-ES" sz="4000" b="1" strike="noStrike" dirty="0">
                <a:solidFill>
                  <a:srgbClr val="1D3F39"/>
                </a:solidFill>
                <a:latin typeface="Calibri"/>
                <a:ea typeface="Calibri"/>
                <a:cs typeface="Calibri"/>
                <a:sym typeface="Calibri"/>
              </a:rPr>
              <a:t>Recursos educativos internos (CORHUILA)</a:t>
            </a:r>
            <a:endParaRPr sz="4000" b="0" strike="noStrike" dirty="0">
              <a:solidFill>
                <a:srgbClr val="000000"/>
              </a:solidFill>
              <a:latin typeface="Calibri"/>
              <a:ea typeface="Calibri"/>
              <a:cs typeface="Calibri"/>
              <a:sym typeface="Calibri"/>
            </a:endParaRPr>
          </a:p>
        </p:txBody>
      </p:sp>
      <p:sp>
        <p:nvSpPr>
          <p:cNvPr id="114" name="Google Shape;114;p15"/>
          <p:cNvSpPr/>
          <p:nvPr/>
        </p:nvSpPr>
        <p:spPr>
          <a:xfrm>
            <a:off x="1322280" y="2102560"/>
            <a:ext cx="10011960" cy="2661419"/>
          </a:xfrm>
          <a:prstGeom prst="rect">
            <a:avLst/>
          </a:prstGeom>
          <a:noFill/>
          <a:ln>
            <a:noFill/>
          </a:ln>
        </p:spPr>
        <p:txBody>
          <a:bodyPr spcFirstLastPara="1" wrap="square" lIns="0" tIns="14400" rIns="0" bIns="0" anchor="t" anchorCtr="0">
            <a:spAutoFit/>
          </a:bodyPr>
          <a:lstStyle/>
          <a:p>
            <a:pPr marL="285750" lvl="0" indent="-285750">
              <a:buSzPts val="2000"/>
              <a:buFont typeface="Arial" panose="020B0604020202020204" pitchFamily="34" charset="0"/>
              <a:buChar char="•"/>
            </a:pPr>
            <a:r>
              <a:rPr lang="es-ES" dirty="0"/>
              <a:t>Base de datos Mc Graw Hill:</a:t>
            </a:r>
          </a:p>
          <a:p>
            <a:pPr marL="285750" lvl="0" indent="-285750">
              <a:buSzPts val="2000"/>
              <a:buFont typeface="Arial" panose="020B0604020202020204" pitchFamily="34" charset="0"/>
              <a:buChar char="•"/>
            </a:pPr>
            <a:r>
              <a:rPr lang="es-ES" sz="1800" u="sng" dirty="0">
                <a:solidFill>
                  <a:srgbClr val="0563C1"/>
                </a:solidFill>
              </a:rPr>
              <a:t>Programación en C, C++ y JAVA con UML. Luis Joyanes Aguilar. Link de Consulta: </a:t>
            </a:r>
            <a:r>
              <a:rPr lang="es-ES" sz="1800" u="sng" dirty="0">
                <a:solidFill>
                  <a:srgbClr val="0563C1"/>
                </a:solidFill>
                <a:hlinkClick r:id="rId3"/>
              </a:rPr>
              <a:t>https://ebooks7-24.com:443/?il=291&amp;pg=4</a:t>
            </a:r>
            <a:endParaRPr lang="es-ES" sz="1800" u="sng" dirty="0">
              <a:solidFill>
                <a:srgbClr val="0563C1"/>
              </a:solidFill>
            </a:endParaRPr>
          </a:p>
          <a:p>
            <a:pPr marL="285750" lvl="0" indent="-285750">
              <a:buSzPts val="2000"/>
              <a:buFont typeface="Arial" panose="020B0604020202020204" pitchFamily="34" charset="0"/>
              <a:buChar char="•"/>
            </a:pPr>
            <a:r>
              <a:rPr lang="es-CO" dirty="0"/>
              <a:t>Base de datos </a:t>
            </a:r>
            <a:r>
              <a:rPr lang="es-CO" dirty="0" err="1"/>
              <a:t>EcoEdiciones</a:t>
            </a:r>
            <a:r>
              <a:rPr lang="es-CO" dirty="0"/>
              <a:t>:</a:t>
            </a:r>
          </a:p>
          <a:p>
            <a:pPr marL="285750" lvl="0" indent="-285750">
              <a:buSzPts val="2000"/>
              <a:buFont typeface="Arial" panose="020B0604020202020204" pitchFamily="34" charset="0"/>
              <a:buChar char="•"/>
            </a:pPr>
            <a:r>
              <a:rPr lang="es-ES" sz="1800" u="sng" dirty="0">
                <a:solidFill>
                  <a:srgbClr val="0563C1"/>
                </a:solidFill>
              </a:rPr>
              <a:t>Programación orientada a objetos usando JAVA. </a:t>
            </a:r>
            <a:r>
              <a:rPr lang="es-ES" sz="1800" u="sng" dirty="0" err="1">
                <a:solidFill>
                  <a:srgbClr val="0563C1"/>
                </a:solidFill>
              </a:rPr>
              <a:t>Hector</a:t>
            </a:r>
            <a:r>
              <a:rPr lang="es-ES" sz="1800" u="sng" dirty="0">
                <a:solidFill>
                  <a:srgbClr val="0563C1"/>
                </a:solidFill>
              </a:rPr>
              <a:t> Arturo </a:t>
            </a:r>
            <a:r>
              <a:rPr lang="es-ES" sz="1800" u="sng" dirty="0" err="1">
                <a:solidFill>
                  <a:srgbClr val="0563C1"/>
                </a:solidFill>
              </a:rPr>
              <a:t>Florez</a:t>
            </a:r>
            <a:r>
              <a:rPr lang="es-ES" sz="1800" u="sng" dirty="0">
                <a:solidFill>
                  <a:srgbClr val="0563C1"/>
                </a:solidFill>
              </a:rPr>
              <a:t>. Link de Consulta: https://ebooks7-24.com:443/?il=202&amp;pg=1</a:t>
            </a:r>
          </a:p>
          <a:p>
            <a:pPr marL="285750" lvl="0" indent="-285750">
              <a:buSzPts val="2000"/>
              <a:buFont typeface="Arial" panose="020B0604020202020204" pitchFamily="34" charset="0"/>
              <a:buChar char="•"/>
            </a:pPr>
            <a:endParaRPr lang="es-ES" sz="1800" u="sng" dirty="0">
              <a:solidFill>
                <a:srgbClr val="0563C1"/>
              </a:solidFill>
            </a:endParaRPr>
          </a:p>
          <a:p>
            <a:pPr marR="0" lvl="0" algn="l" rtl="0">
              <a:lnSpc>
                <a:spcPct val="100000"/>
              </a:lnSpc>
              <a:spcBef>
                <a:spcPts val="0"/>
              </a:spcBef>
              <a:spcAft>
                <a:spcPts val="0"/>
              </a:spcAft>
              <a:buClr>
                <a:srgbClr val="000000"/>
              </a:buClr>
              <a:buSzPts val="2000"/>
            </a:pPr>
            <a:endParaRPr lang="es-ES" sz="18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buClr>
                <a:srgbClr val="000000"/>
              </a:buClr>
              <a:buSzPts val="2000"/>
            </a:pPr>
            <a:endParaRPr lang="es-ES"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2000"/>
              <a:buFont typeface="Arial" panose="020B0604020202020204" pitchFamily="34" charset="0"/>
              <a:buChar char="•"/>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p:nvPr/>
        </p:nvSpPr>
        <p:spPr>
          <a:xfrm>
            <a:off x="0" y="531720"/>
            <a:ext cx="8568000" cy="6408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Recursos educativos externos</a:t>
            </a:r>
            <a:endParaRPr sz="4000" b="0" i="0" u="none" strike="noStrike" cap="none">
              <a:solidFill>
                <a:srgbClr val="000000"/>
              </a:solidFill>
              <a:latin typeface="Arial"/>
              <a:ea typeface="Arial"/>
              <a:cs typeface="Arial"/>
              <a:sym typeface="Arial"/>
            </a:endParaRPr>
          </a:p>
        </p:txBody>
      </p:sp>
      <p:sp>
        <p:nvSpPr>
          <p:cNvPr id="120" name="Google Shape;120;p16"/>
          <p:cNvSpPr/>
          <p:nvPr/>
        </p:nvSpPr>
        <p:spPr>
          <a:xfrm>
            <a:off x="1644119" y="1870200"/>
            <a:ext cx="9345613" cy="748075"/>
          </a:xfrm>
          <a:prstGeom prst="rect">
            <a:avLst/>
          </a:prstGeom>
          <a:noFill/>
          <a:ln>
            <a:noFill/>
          </a:ln>
        </p:spPr>
        <p:txBody>
          <a:bodyPr spcFirstLastPara="1" wrap="square" lIns="0" tIns="14400" rIns="0" bIns="0" anchor="t" anchorCtr="0">
            <a:spAutoFit/>
          </a:bodyPr>
          <a:lstStyle/>
          <a:p>
            <a:pPr marL="360000" lvl="0" indent="-384300" algn="just">
              <a:spcBef>
                <a:spcPts val="1400"/>
              </a:spcBef>
              <a:buClr>
                <a:schemeClr val="dk1"/>
              </a:buClr>
              <a:buSzPts val="1800"/>
              <a:buFont typeface="Calibri"/>
              <a:buChar char="●"/>
            </a:pPr>
            <a:r>
              <a:rPr lang="es-CO" sz="1800" dirty="0"/>
              <a:t>Sistemas Distribuidos. Francisco de </a:t>
            </a:r>
            <a:r>
              <a:rPr lang="es-CO" sz="1800" dirty="0" err="1"/>
              <a:t>Asis</a:t>
            </a:r>
            <a:r>
              <a:rPr lang="es-CO" sz="1800" dirty="0"/>
              <a:t> López Fuentes. Link de Consulta: https://n9.cl/w8lb7</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p:nvPr/>
        </p:nvSpPr>
        <p:spPr>
          <a:xfrm>
            <a:off x="17640" y="256680"/>
            <a:ext cx="8550360" cy="111168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Evaluación formativa y del aprendizaje</a:t>
            </a:r>
            <a:endParaRPr sz="4000" b="0" i="0" u="none" strike="noStrike" cap="none">
              <a:solidFill>
                <a:srgbClr val="000000"/>
              </a:solidFill>
              <a:latin typeface="Arial"/>
              <a:ea typeface="Arial"/>
              <a:cs typeface="Arial"/>
              <a:sym typeface="Arial"/>
            </a:endParaRPr>
          </a:p>
        </p:txBody>
      </p:sp>
      <p:pic>
        <p:nvPicPr>
          <p:cNvPr id="126" name="Google Shape;126;p20"/>
          <p:cNvPicPr preferRelativeResize="0"/>
          <p:nvPr/>
        </p:nvPicPr>
        <p:blipFill rotWithShape="1">
          <a:blip r:embed="rId3">
            <a:alphaModFix/>
          </a:blip>
          <a:srcRect/>
          <a:stretch/>
        </p:blipFill>
        <p:spPr>
          <a:xfrm>
            <a:off x="2784240" y="1152000"/>
            <a:ext cx="5351760" cy="49298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aphicFrame>
        <p:nvGraphicFramePr>
          <p:cNvPr id="131" name="Google Shape;131;p21"/>
          <p:cNvGraphicFramePr/>
          <p:nvPr>
            <p:extLst>
              <p:ext uri="{D42A27DB-BD31-4B8C-83A1-F6EECF244321}">
                <p14:modId xmlns:p14="http://schemas.microsoft.com/office/powerpoint/2010/main" val="1116437625"/>
              </p:ext>
            </p:extLst>
          </p:nvPr>
        </p:nvGraphicFramePr>
        <p:xfrm>
          <a:off x="1870322" y="1577200"/>
          <a:ext cx="8451375" cy="4226185"/>
        </p:xfrm>
        <a:graphic>
          <a:graphicData uri="http://schemas.openxmlformats.org/drawingml/2006/table">
            <a:tbl>
              <a:tblPr>
                <a:noFill/>
                <a:tableStyleId>{58972E22-CE3F-40E4-946A-D1752B916D21}</a:tableStyleId>
              </a:tblPr>
              <a:tblGrid>
                <a:gridCol w="2049125">
                  <a:extLst>
                    <a:ext uri="{9D8B030D-6E8A-4147-A177-3AD203B41FA5}">
                      <a16:colId xmlns:a16="http://schemas.microsoft.com/office/drawing/2014/main" val="20000"/>
                    </a:ext>
                  </a:extLst>
                </a:gridCol>
                <a:gridCol w="1936075">
                  <a:extLst>
                    <a:ext uri="{9D8B030D-6E8A-4147-A177-3AD203B41FA5}">
                      <a16:colId xmlns:a16="http://schemas.microsoft.com/office/drawing/2014/main" val="20001"/>
                    </a:ext>
                  </a:extLst>
                </a:gridCol>
                <a:gridCol w="3359525">
                  <a:extLst>
                    <a:ext uri="{9D8B030D-6E8A-4147-A177-3AD203B41FA5}">
                      <a16:colId xmlns:a16="http://schemas.microsoft.com/office/drawing/2014/main" val="20002"/>
                    </a:ext>
                  </a:extLst>
                </a:gridCol>
                <a:gridCol w="1106650">
                  <a:extLst>
                    <a:ext uri="{9D8B030D-6E8A-4147-A177-3AD203B41FA5}">
                      <a16:colId xmlns:a16="http://schemas.microsoft.com/office/drawing/2014/main" val="20003"/>
                    </a:ext>
                  </a:extLst>
                </a:gridCol>
              </a:tblGrid>
              <a:tr h="1017725">
                <a:tc>
                  <a:txBody>
                    <a:bodyPr/>
                    <a:lstStyle/>
                    <a:p>
                      <a:pPr marL="0" marR="0" lvl="0" indent="0" algn="ctr"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Parcial</a:t>
                      </a:r>
                      <a:endParaRPr sz="18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gridSpan="2">
                  <a:txBody>
                    <a:bodyPr/>
                    <a:lstStyle/>
                    <a:p>
                      <a:pPr marL="0" lvl="0" indent="0" algn="ctr" rtl="0">
                        <a:spcBef>
                          <a:spcPts val="0"/>
                        </a:spcBef>
                        <a:spcAft>
                          <a:spcPts val="0"/>
                        </a:spcAft>
                        <a:buClr>
                          <a:schemeClr val="dk1"/>
                        </a:buClr>
                        <a:buSzPts val="1800"/>
                        <a:buFont typeface="Arial"/>
                        <a:buNone/>
                      </a:pPr>
                      <a:r>
                        <a:rPr lang="es-ES" sz="1800" b="1" dirty="0">
                          <a:solidFill>
                            <a:schemeClr val="dk1"/>
                          </a:solidFill>
                          <a:latin typeface="Tahoma"/>
                          <a:ea typeface="Tahoma"/>
                          <a:cs typeface="Tahoma"/>
                          <a:sym typeface="Tahoma"/>
                        </a:rPr>
                        <a:t>Fecha parcial: 04-mar-2026</a:t>
                      </a:r>
                      <a:endParaRPr sz="1800" dirty="0">
                        <a:solidFill>
                          <a:schemeClr val="lt1"/>
                        </a:solidFill>
                      </a:endParaRPr>
                    </a:p>
                    <a:p>
                      <a:pPr marL="0" lvl="0" indent="0" algn="ctr" rtl="0">
                        <a:spcBef>
                          <a:spcPts val="230"/>
                        </a:spcBef>
                        <a:spcAft>
                          <a:spcPts val="0"/>
                        </a:spcAft>
                        <a:buClr>
                          <a:schemeClr val="dk1"/>
                        </a:buClr>
                        <a:buSzPts val="1800"/>
                        <a:buFont typeface="Arial"/>
                        <a:buNone/>
                      </a:pPr>
                      <a:r>
                        <a:rPr lang="es-ES" sz="1800" b="1" dirty="0">
                          <a:solidFill>
                            <a:schemeClr val="dk1"/>
                          </a:solidFill>
                          <a:latin typeface="Tahoma"/>
                          <a:ea typeface="Tahoma"/>
                          <a:cs typeface="Tahoma"/>
                          <a:sym typeface="Tahoma"/>
                        </a:rPr>
                        <a:t>Socialización: 10-mar-2026</a:t>
                      </a:r>
                      <a:endParaRPr sz="1800" b="1" dirty="0">
                        <a:latin typeface="Tahoma"/>
                        <a:ea typeface="Tahoma"/>
                        <a:cs typeface="Tahoma"/>
                        <a:sym typeface="Tahoma"/>
                      </a:endParaRPr>
                    </a:p>
                    <a:p>
                      <a:pPr marL="0" marR="0" lvl="0" indent="0" algn="ctr" rtl="0">
                        <a:lnSpc>
                          <a:spcPct val="100000"/>
                        </a:lnSpc>
                        <a:spcBef>
                          <a:spcPts val="230"/>
                        </a:spcBef>
                        <a:spcAft>
                          <a:spcPts val="0"/>
                        </a:spcAft>
                        <a:buClr>
                          <a:srgbClr val="000000"/>
                        </a:buClr>
                        <a:buSzPts val="1800"/>
                        <a:buFont typeface="Arial"/>
                        <a:buNone/>
                      </a:pPr>
                      <a:endParaRPr sz="1800" b="0" u="none" strike="noStrike" cap="none" dirty="0">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hMerge="1">
                  <a:txBody>
                    <a:bodyPr/>
                    <a:lstStyle/>
                    <a:p>
                      <a:endParaRPr lang="es-CO"/>
                    </a:p>
                  </a:txBody>
                  <a:tcPr/>
                </a:tc>
                <a:tc>
                  <a:txBody>
                    <a:bodyPr/>
                    <a:lstStyle/>
                    <a:p>
                      <a:pPr marL="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a:t>
                      </a:r>
                      <a:endParaRPr sz="18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extLst>
                  <a:ext uri="{0D108BD9-81ED-4DB2-BD59-A6C34878D82A}">
                    <a16:rowId xmlns:a16="http://schemas.microsoft.com/office/drawing/2014/main" val="10000"/>
                  </a:ext>
                </a:extLst>
              </a:tr>
              <a:tr h="337675">
                <a:tc rowSpan="3">
                  <a:txBody>
                    <a:bodyPr/>
                    <a:lstStyle/>
                    <a:p>
                      <a:pPr marL="91440" marR="0" lvl="0" indent="0" algn="ctr"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Primer Corte</a:t>
                      </a: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rowSpan="3">
                  <a:txBody>
                    <a:bodyPr/>
                    <a:lstStyle/>
                    <a:p>
                      <a:pPr marL="91440" marR="0" lvl="0" indent="0" algn="l"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l"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l"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Calibri"/>
                          <a:ea typeface="Calibri"/>
                          <a:cs typeface="Calibri"/>
                          <a:sym typeface="Calibri"/>
                        </a:rPr>
                        <a:t>Primer reporte de notas (30%)</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AUTOEVALUACIÓN</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2%</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1"/>
                  </a:ext>
                </a:extLst>
              </a:tr>
              <a:tr h="678600">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COEVALUACIÓN</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3%</a:t>
                      </a:r>
                      <a:endParaRPr sz="1800" b="0" u="none" strike="noStrike" cap="none">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extLst>
                  <a:ext uri="{0D108BD9-81ED-4DB2-BD59-A6C34878D82A}">
                    <a16:rowId xmlns:a16="http://schemas.microsoft.com/office/drawing/2014/main" val="10002"/>
                  </a:ext>
                </a:extLst>
              </a:tr>
              <a:tr h="2042275">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HETEROEVALUACIÓN</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dirty="0">
                          <a:latin typeface="Tahoma"/>
                          <a:ea typeface="Tahoma"/>
                          <a:cs typeface="Tahoma"/>
                          <a:sym typeface="Tahoma"/>
                        </a:rPr>
                        <a:t>Foro</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dirty="0">
                          <a:latin typeface="Tahoma"/>
                          <a:ea typeface="Tahoma"/>
                          <a:cs typeface="Tahoma"/>
                          <a:sym typeface="Tahoma"/>
                        </a:rPr>
                        <a:t>Quiz</a:t>
                      </a:r>
                      <a:r>
                        <a:rPr lang="es-ES" sz="1800" b="1" u="none" strike="noStrike" cap="none" dirty="0">
                          <a:solidFill>
                            <a:srgbClr val="000000"/>
                          </a:solidFill>
                          <a:latin typeface="Tahoma"/>
                          <a:ea typeface="Tahoma"/>
                          <a:cs typeface="Tahoma"/>
                          <a:sym typeface="Tahoma"/>
                        </a:rPr>
                        <a:t> </a:t>
                      </a:r>
                      <a:endParaRPr sz="1800" b="1" u="none" strike="noStrike" cap="none" dirty="0">
                        <a:solidFill>
                          <a:srgbClr val="000000"/>
                        </a:solidFill>
                        <a:latin typeface="Tahoma"/>
                        <a:ea typeface="Tahoma"/>
                        <a:cs typeface="Tahoma"/>
                        <a:sym typeface="Tahoma"/>
                      </a:endParaRPr>
                    </a:p>
                    <a:p>
                      <a:pPr marL="92160" marR="0" lvl="0" indent="0" algn="l" rtl="0">
                        <a:lnSpc>
                          <a:spcPct val="100000"/>
                        </a:lnSpc>
                        <a:spcBef>
                          <a:spcPts val="235"/>
                        </a:spcBef>
                        <a:spcAft>
                          <a:spcPts val="0"/>
                        </a:spcAft>
                        <a:buClr>
                          <a:srgbClr val="000000"/>
                        </a:buClr>
                        <a:buSzPts val="1800"/>
                        <a:buFont typeface="Arial"/>
                        <a:buNone/>
                      </a:pPr>
                      <a:endParaRPr sz="1800" b="1" dirty="0">
                        <a:latin typeface="Tahoma"/>
                        <a:ea typeface="Tahoma"/>
                        <a:cs typeface="Tahoma"/>
                        <a:sym typeface="Tahoma"/>
                      </a:endParaRPr>
                    </a:p>
                    <a:p>
                      <a:pPr marL="0" marR="0" lvl="0" indent="0" algn="l" rtl="0">
                        <a:lnSpc>
                          <a:spcPct val="100000"/>
                        </a:lnSpc>
                        <a:spcBef>
                          <a:spcPts val="235"/>
                        </a:spcBef>
                        <a:spcAft>
                          <a:spcPts val="0"/>
                        </a:spcAft>
                        <a:buClr>
                          <a:srgbClr val="000000"/>
                        </a:buClr>
                        <a:buSzPts val="1800"/>
                        <a:buFont typeface="Arial"/>
                        <a:buNone/>
                      </a:pPr>
                      <a:r>
                        <a:rPr lang="es-ES" sz="1800" b="1" dirty="0">
                          <a:latin typeface="Tahoma"/>
                          <a:ea typeface="Tahoma"/>
                          <a:cs typeface="Tahoma"/>
                          <a:sym typeface="Tahoma"/>
                        </a:rPr>
                        <a:t>  </a:t>
                      </a:r>
                      <a:r>
                        <a:rPr lang="es-ES" sz="1800" b="1" u="none" strike="noStrike" cap="none" dirty="0">
                          <a:solidFill>
                            <a:srgbClr val="000000"/>
                          </a:solidFill>
                          <a:latin typeface="Tahoma"/>
                          <a:ea typeface="Tahoma"/>
                          <a:cs typeface="Tahoma"/>
                          <a:sym typeface="Tahoma"/>
                        </a:rPr>
                        <a:t>Parcial </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25%</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dirty="0">
                        <a:latin typeface="Tahoma"/>
                        <a:ea typeface="Tahoma"/>
                        <a:cs typeface="Tahoma"/>
                        <a:sym typeface="Tahoma"/>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70%</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3"/>
                  </a:ext>
                </a:extLst>
              </a:tr>
            </a:tbl>
          </a:graphicData>
        </a:graphic>
      </p:graphicFrame>
      <p:sp>
        <p:nvSpPr>
          <p:cNvPr id="132" name="Google Shape;132;p21"/>
          <p:cNvSpPr/>
          <p:nvPr/>
        </p:nvSpPr>
        <p:spPr>
          <a:xfrm>
            <a:off x="48960" y="488983"/>
            <a:ext cx="8519100" cy="56310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Primer Corte</a:t>
            </a:r>
            <a:endParaRPr sz="4000" b="1" i="0" u="none" strike="noStrike" cap="none">
              <a:solidFill>
                <a:srgbClr val="1D3F39"/>
              </a:solidFill>
              <a:latin typeface="Calibri"/>
              <a:ea typeface="Calibri"/>
              <a:cs typeface="Calibri"/>
              <a:sym typeface="Calibri"/>
            </a:endParaRPr>
          </a:p>
          <a:p>
            <a:pPr marL="0" lvl="0" indent="0" algn="ctr" rtl="0">
              <a:spcBef>
                <a:spcPts val="0"/>
              </a:spcBef>
              <a:spcAft>
                <a:spcPts val="0"/>
              </a:spcAft>
              <a:buClr>
                <a:schemeClr val="dk1"/>
              </a:buClr>
              <a:buSzPts val="1800"/>
              <a:buFont typeface="Arial"/>
              <a:buNone/>
            </a:pPr>
            <a:r>
              <a:rPr lang="es-ES" sz="1800" b="1">
                <a:solidFill>
                  <a:schemeClr val="dk1"/>
                </a:solidFill>
                <a:latin typeface="Tahoma"/>
                <a:ea typeface="Tahoma"/>
                <a:cs typeface="Tahoma"/>
                <a:sym typeface="Tahoma"/>
              </a:rPr>
              <a:t>02-feb-2026 hasta 14-mar-2026</a:t>
            </a:r>
            <a:endParaRPr sz="4000" b="1">
              <a:solidFill>
                <a:srgbClr val="1D3F39"/>
              </a:solidFill>
              <a:latin typeface="Calibri"/>
              <a:ea typeface="Calibri"/>
              <a:cs typeface="Calibri"/>
              <a:sym typeface="Calibri"/>
            </a:endParaRPr>
          </a:p>
          <a:p>
            <a:pPr marL="0" marR="0" lvl="0" indent="0" algn="ctr" rtl="0">
              <a:lnSpc>
                <a:spcPct val="90000"/>
              </a:lnSpc>
              <a:spcBef>
                <a:spcPts val="0"/>
              </a:spcBef>
              <a:spcAft>
                <a:spcPts val="0"/>
              </a:spcAft>
              <a:buClr>
                <a:srgbClr val="000000"/>
              </a:buClr>
              <a:buSzPts val="4000"/>
              <a:buFont typeface="Arial"/>
              <a:buNone/>
            </a:pPr>
            <a:endParaRPr sz="4000" b="1">
              <a:solidFill>
                <a:srgbClr val="1D3F39"/>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aphicFrame>
        <p:nvGraphicFramePr>
          <p:cNvPr id="137" name="Google Shape;137;p22"/>
          <p:cNvGraphicFramePr/>
          <p:nvPr>
            <p:extLst>
              <p:ext uri="{D42A27DB-BD31-4B8C-83A1-F6EECF244321}">
                <p14:modId xmlns:p14="http://schemas.microsoft.com/office/powerpoint/2010/main" val="2282980917"/>
              </p:ext>
            </p:extLst>
          </p:nvPr>
        </p:nvGraphicFramePr>
        <p:xfrm>
          <a:off x="2243520" y="1721520"/>
          <a:ext cx="7704375" cy="3898775"/>
        </p:xfrm>
        <a:graphic>
          <a:graphicData uri="http://schemas.openxmlformats.org/drawingml/2006/table">
            <a:tbl>
              <a:tblPr>
                <a:noFill/>
                <a:tableStyleId>{58972E22-CE3F-40E4-946A-D1752B916D21}</a:tableStyleId>
              </a:tblPr>
              <a:tblGrid>
                <a:gridCol w="1868050">
                  <a:extLst>
                    <a:ext uri="{9D8B030D-6E8A-4147-A177-3AD203B41FA5}">
                      <a16:colId xmlns:a16="http://schemas.microsoft.com/office/drawing/2014/main" val="20000"/>
                    </a:ext>
                  </a:extLst>
                </a:gridCol>
                <a:gridCol w="1765075">
                  <a:extLst>
                    <a:ext uri="{9D8B030D-6E8A-4147-A177-3AD203B41FA5}">
                      <a16:colId xmlns:a16="http://schemas.microsoft.com/office/drawing/2014/main" val="20001"/>
                    </a:ext>
                  </a:extLst>
                </a:gridCol>
                <a:gridCol w="3062525">
                  <a:extLst>
                    <a:ext uri="{9D8B030D-6E8A-4147-A177-3AD203B41FA5}">
                      <a16:colId xmlns:a16="http://schemas.microsoft.com/office/drawing/2014/main" val="20002"/>
                    </a:ext>
                  </a:extLst>
                </a:gridCol>
                <a:gridCol w="1008725">
                  <a:extLst>
                    <a:ext uri="{9D8B030D-6E8A-4147-A177-3AD203B41FA5}">
                      <a16:colId xmlns:a16="http://schemas.microsoft.com/office/drawing/2014/main" val="20003"/>
                    </a:ext>
                  </a:extLst>
                </a:gridCol>
              </a:tblGrid>
              <a:tr h="684000">
                <a:tc>
                  <a:txBody>
                    <a:bodyPr/>
                    <a:lstStyle/>
                    <a:p>
                      <a:pPr marL="0" marR="0" lvl="0" indent="0" algn="ctr"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Parcial</a:t>
                      </a:r>
                      <a:endParaRPr sz="18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gridSpan="2">
                  <a:txBody>
                    <a:bodyPr/>
                    <a:lstStyle/>
                    <a:p>
                      <a:pPr marL="0" marR="0" lvl="0" indent="0" algn="ctr"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Fecha parcial: </a:t>
                      </a:r>
                      <a:r>
                        <a:rPr lang="es-ES" sz="1800" b="1" dirty="0">
                          <a:latin typeface="Tahoma"/>
                          <a:ea typeface="Tahoma"/>
                          <a:cs typeface="Tahoma"/>
                          <a:sym typeface="Tahoma"/>
                        </a:rPr>
                        <a:t>15</a:t>
                      </a:r>
                      <a:r>
                        <a:rPr lang="es-ES" sz="1800" b="1" u="none" strike="noStrike" cap="none" dirty="0">
                          <a:latin typeface="Tahoma"/>
                          <a:ea typeface="Tahoma"/>
                          <a:cs typeface="Tahoma"/>
                          <a:sym typeface="Tahoma"/>
                        </a:rPr>
                        <a:t>-</a:t>
                      </a:r>
                      <a:r>
                        <a:rPr lang="es-ES" sz="1800" b="1" dirty="0">
                          <a:latin typeface="Tahoma"/>
                          <a:ea typeface="Tahoma"/>
                          <a:cs typeface="Tahoma"/>
                          <a:sym typeface="Tahoma"/>
                        </a:rPr>
                        <a:t>abr</a:t>
                      </a:r>
                      <a:r>
                        <a:rPr lang="es-ES" sz="1800" b="1" u="none" strike="noStrike" cap="none" dirty="0">
                          <a:latin typeface="Tahoma"/>
                          <a:ea typeface="Tahoma"/>
                          <a:cs typeface="Tahoma"/>
                          <a:sym typeface="Tahoma"/>
                        </a:rPr>
                        <a:t>-202</a:t>
                      </a:r>
                      <a:r>
                        <a:rPr lang="es-ES" sz="1800" b="1" dirty="0">
                          <a:latin typeface="Tahoma"/>
                          <a:ea typeface="Tahoma"/>
                          <a:cs typeface="Tahoma"/>
                          <a:sym typeface="Tahoma"/>
                        </a:rPr>
                        <a:t>6</a:t>
                      </a:r>
                      <a:endParaRPr sz="1800" b="0" u="none" strike="noStrike" cap="none" dirty="0">
                        <a:solidFill>
                          <a:srgbClr val="FFFFFF"/>
                        </a:solidFill>
                        <a:latin typeface="Arial"/>
                        <a:ea typeface="Arial"/>
                        <a:cs typeface="Arial"/>
                        <a:sym typeface="Arial"/>
                      </a:endParaRPr>
                    </a:p>
                    <a:p>
                      <a:pPr marL="0" marR="0" lvl="0" indent="0" algn="ctr" rtl="0">
                        <a:lnSpc>
                          <a:spcPct val="100000"/>
                        </a:lnSpc>
                        <a:spcBef>
                          <a:spcPts val="23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Socialización: </a:t>
                      </a:r>
                      <a:r>
                        <a:rPr lang="es-ES" sz="1800" b="1" dirty="0">
                          <a:latin typeface="Tahoma"/>
                          <a:ea typeface="Tahoma"/>
                          <a:cs typeface="Tahoma"/>
                          <a:sym typeface="Tahoma"/>
                        </a:rPr>
                        <a:t>21</a:t>
                      </a:r>
                      <a:r>
                        <a:rPr lang="es-ES" sz="1800" b="1" u="none" strike="noStrike" cap="none" dirty="0">
                          <a:latin typeface="Tahoma"/>
                          <a:ea typeface="Tahoma"/>
                          <a:cs typeface="Tahoma"/>
                          <a:sym typeface="Tahoma"/>
                        </a:rPr>
                        <a:t>-</a:t>
                      </a:r>
                      <a:r>
                        <a:rPr lang="es-ES" sz="1800" b="1" dirty="0">
                          <a:latin typeface="Tahoma"/>
                          <a:ea typeface="Tahoma"/>
                          <a:cs typeface="Tahoma"/>
                          <a:sym typeface="Tahoma"/>
                        </a:rPr>
                        <a:t>abr</a:t>
                      </a:r>
                      <a:r>
                        <a:rPr lang="es-ES" sz="1800" b="1" u="none" strike="noStrike" cap="none" dirty="0">
                          <a:latin typeface="Tahoma"/>
                          <a:ea typeface="Tahoma"/>
                          <a:cs typeface="Tahoma"/>
                          <a:sym typeface="Tahoma"/>
                        </a:rPr>
                        <a:t>-202</a:t>
                      </a:r>
                      <a:r>
                        <a:rPr lang="es-ES" sz="1800" b="1" dirty="0">
                          <a:latin typeface="Tahoma"/>
                          <a:ea typeface="Tahoma"/>
                          <a:cs typeface="Tahoma"/>
                          <a:sym typeface="Tahoma"/>
                        </a:rPr>
                        <a:t>6</a:t>
                      </a:r>
                      <a:endParaRPr sz="1800" b="0" u="none" strike="noStrike" cap="none" dirty="0">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hMerge="1">
                  <a:txBody>
                    <a:bodyPr/>
                    <a:lstStyle/>
                    <a:p>
                      <a:endParaRPr lang="es-CO"/>
                    </a:p>
                  </a:txBody>
                  <a:tcPr/>
                </a:tc>
                <a:tc>
                  <a:txBody>
                    <a:bodyPr/>
                    <a:lstStyle/>
                    <a:p>
                      <a:pPr marL="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a:t>
                      </a:r>
                      <a:endParaRPr sz="18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extLst>
                  <a:ext uri="{0D108BD9-81ED-4DB2-BD59-A6C34878D82A}">
                    <a16:rowId xmlns:a16="http://schemas.microsoft.com/office/drawing/2014/main" val="10000"/>
                  </a:ext>
                </a:extLst>
              </a:tr>
              <a:tr h="596150">
                <a:tc rowSpan="3">
                  <a:txBody>
                    <a:bodyPr/>
                    <a:lstStyle/>
                    <a:p>
                      <a:pPr marL="91440" marR="0" lvl="0" indent="0" algn="ctr"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Segundo Corte</a:t>
                      </a: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rowSpan="3">
                  <a:txBody>
                    <a:bodyPr/>
                    <a:lstStyle/>
                    <a:p>
                      <a:pPr marL="91440" marR="0" lvl="0" indent="0" algn="ctr"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1440" marR="0" lvl="0" indent="0" algn="ctr"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Calibri"/>
                          <a:ea typeface="Calibri"/>
                          <a:cs typeface="Calibri"/>
                          <a:sym typeface="Calibri"/>
                        </a:rPr>
                        <a:t>Segundo reporte de notas (30%)</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AUTOEVALUACIÓN</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2%</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1"/>
                  </a:ext>
                </a:extLst>
              </a:tr>
              <a:tr h="902875">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COEVALUACIÓN</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3%</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extLst>
                  <a:ext uri="{0D108BD9-81ED-4DB2-BD59-A6C34878D82A}">
                    <a16:rowId xmlns:a16="http://schemas.microsoft.com/office/drawing/2014/main" val="10002"/>
                  </a:ext>
                </a:extLst>
              </a:tr>
              <a:tr h="1715750">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HETEROEVALUACIÓN</a:t>
                      </a:r>
                      <a:endParaRPr sz="1800" b="0" u="none" strike="noStrike" cap="none">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a:latin typeface="Tahoma"/>
                          <a:ea typeface="Tahoma"/>
                          <a:cs typeface="Tahoma"/>
                          <a:sym typeface="Tahoma"/>
                        </a:rPr>
                        <a:t>Foro</a:t>
                      </a:r>
                      <a:endParaRPr sz="1800" b="0" u="none" strike="noStrike" cap="none">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a:latin typeface="Tahoma"/>
                          <a:ea typeface="Tahoma"/>
                          <a:cs typeface="Tahoma"/>
                          <a:sym typeface="Tahoma"/>
                        </a:rPr>
                        <a:t>Quiz</a:t>
                      </a:r>
                      <a:endParaRPr sz="1800" b="1">
                        <a:latin typeface="Tahoma"/>
                        <a:ea typeface="Tahoma"/>
                        <a:cs typeface="Tahoma"/>
                        <a:sym typeface="Tahoma"/>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 </a:t>
                      </a:r>
                      <a:endParaRPr sz="1800" b="0" u="none" strike="noStrike" cap="none">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Examen – Parcial</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25%</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dirty="0">
                        <a:latin typeface="Tahoma"/>
                        <a:ea typeface="Tahoma"/>
                        <a:cs typeface="Tahoma"/>
                        <a:sym typeface="Tahoma"/>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70%</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3"/>
                  </a:ext>
                </a:extLst>
              </a:tr>
            </a:tbl>
          </a:graphicData>
        </a:graphic>
      </p:graphicFrame>
      <p:sp>
        <p:nvSpPr>
          <p:cNvPr id="138" name="Google Shape;138;p22"/>
          <p:cNvSpPr/>
          <p:nvPr/>
        </p:nvSpPr>
        <p:spPr>
          <a:xfrm>
            <a:off x="48960" y="344880"/>
            <a:ext cx="8519040" cy="56304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Segundo Corte</a:t>
            </a:r>
            <a:endParaRPr sz="4000" b="1" i="0" u="none" strike="noStrike" cap="none">
              <a:solidFill>
                <a:srgbClr val="1D3F39"/>
              </a:solidFill>
              <a:latin typeface="Calibri"/>
              <a:ea typeface="Calibri"/>
              <a:cs typeface="Calibri"/>
              <a:sym typeface="Calibri"/>
            </a:endParaRPr>
          </a:p>
          <a:p>
            <a:pPr marL="0" lvl="0" indent="0" algn="ctr" rtl="0">
              <a:spcBef>
                <a:spcPts val="0"/>
              </a:spcBef>
              <a:spcAft>
                <a:spcPts val="0"/>
              </a:spcAft>
              <a:buClr>
                <a:schemeClr val="dk1"/>
              </a:buClr>
              <a:buSzPts val="1800"/>
              <a:buFont typeface="Arial"/>
              <a:buNone/>
            </a:pPr>
            <a:r>
              <a:rPr lang="es-ES" sz="1800" b="1">
                <a:solidFill>
                  <a:schemeClr val="dk1"/>
                </a:solidFill>
                <a:latin typeface="Tahoma"/>
                <a:ea typeface="Tahoma"/>
                <a:cs typeface="Tahoma"/>
                <a:sym typeface="Tahoma"/>
              </a:rPr>
              <a:t>14-mar-2026 hasta 25-abr-2026</a:t>
            </a:r>
            <a:endParaRPr sz="4000" b="1">
              <a:solidFill>
                <a:srgbClr val="1D3F39"/>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graphicFrame>
        <p:nvGraphicFramePr>
          <p:cNvPr id="143" name="Google Shape;143;p23"/>
          <p:cNvGraphicFramePr/>
          <p:nvPr>
            <p:extLst>
              <p:ext uri="{D42A27DB-BD31-4B8C-83A1-F6EECF244321}">
                <p14:modId xmlns:p14="http://schemas.microsoft.com/office/powerpoint/2010/main" val="1162297716"/>
              </p:ext>
            </p:extLst>
          </p:nvPr>
        </p:nvGraphicFramePr>
        <p:xfrm>
          <a:off x="2215405" y="974730"/>
          <a:ext cx="7452725" cy="5468770"/>
        </p:xfrm>
        <a:graphic>
          <a:graphicData uri="http://schemas.openxmlformats.org/drawingml/2006/table">
            <a:tbl>
              <a:tblPr>
                <a:noFill/>
                <a:tableStyleId>{58972E22-CE3F-40E4-946A-D1752B916D21}</a:tableStyleId>
              </a:tblPr>
              <a:tblGrid>
                <a:gridCol w="1807200">
                  <a:extLst>
                    <a:ext uri="{9D8B030D-6E8A-4147-A177-3AD203B41FA5}">
                      <a16:colId xmlns:a16="http://schemas.microsoft.com/office/drawing/2014/main" val="20000"/>
                    </a:ext>
                  </a:extLst>
                </a:gridCol>
                <a:gridCol w="1707125">
                  <a:extLst>
                    <a:ext uri="{9D8B030D-6E8A-4147-A177-3AD203B41FA5}">
                      <a16:colId xmlns:a16="http://schemas.microsoft.com/office/drawing/2014/main" val="20001"/>
                    </a:ext>
                  </a:extLst>
                </a:gridCol>
                <a:gridCol w="2962450">
                  <a:extLst>
                    <a:ext uri="{9D8B030D-6E8A-4147-A177-3AD203B41FA5}">
                      <a16:colId xmlns:a16="http://schemas.microsoft.com/office/drawing/2014/main" val="20002"/>
                    </a:ext>
                  </a:extLst>
                </a:gridCol>
                <a:gridCol w="975950">
                  <a:extLst>
                    <a:ext uri="{9D8B030D-6E8A-4147-A177-3AD203B41FA5}">
                      <a16:colId xmlns:a16="http://schemas.microsoft.com/office/drawing/2014/main" val="20003"/>
                    </a:ext>
                  </a:extLst>
                </a:gridCol>
              </a:tblGrid>
              <a:tr h="677525">
                <a:tc>
                  <a:txBody>
                    <a:bodyPr/>
                    <a:lstStyle/>
                    <a:p>
                      <a:pPr marL="0" marR="0" lvl="0" indent="0" algn="ctr"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Parcial</a:t>
                      </a:r>
                      <a:endParaRPr sz="18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gridSpan="2">
                  <a:txBody>
                    <a:bodyPr/>
                    <a:lstStyle/>
                    <a:p>
                      <a:pPr marL="0" marR="0" lvl="0" indent="0" algn="ctr"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Fecha parcial: 20</a:t>
                      </a:r>
                      <a:r>
                        <a:rPr lang="es-ES" sz="1800" b="1" u="none" strike="noStrike" cap="none" dirty="0">
                          <a:latin typeface="Tahoma"/>
                          <a:ea typeface="Tahoma"/>
                          <a:cs typeface="Tahoma"/>
                          <a:sym typeface="Tahoma"/>
                        </a:rPr>
                        <a:t>-</a:t>
                      </a:r>
                      <a:r>
                        <a:rPr lang="es-ES" sz="1800" b="1" dirty="0">
                          <a:latin typeface="Tahoma"/>
                          <a:ea typeface="Tahoma"/>
                          <a:cs typeface="Tahoma"/>
                          <a:sym typeface="Tahoma"/>
                        </a:rPr>
                        <a:t>may</a:t>
                      </a:r>
                      <a:r>
                        <a:rPr lang="es-ES" sz="1800" b="1" u="none" strike="noStrike" cap="none" dirty="0">
                          <a:latin typeface="Tahoma"/>
                          <a:ea typeface="Tahoma"/>
                          <a:cs typeface="Tahoma"/>
                          <a:sym typeface="Tahoma"/>
                        </a:rPr>
                        <a:t>-202</a:t>
                      </a:r>
                      <a:r>
                        <a:rPr lang="es-ES" sz="1800" b="1" dirty="0">
                          <a:latin typeface="Tahoma"/>
                          <a:ea typeface="Tahoma"/>
                          <a:cs typeface="Tahoma"/>
                          <a:sym typeface="Tahoma"/>
                        </a:rPr>
                        <a:t>6</a:t>
                      </a:r>
                      <a:endParaRPr sz="1800" b="1" u="none" strike="noStrike" cap="none" dirty="0">
                        <a:solidFill>
                          <a:srgbClr val="FFFFFF"/>
                        </a:solidFill>
                        <a:latin typeface="Arial"/>
                        <a:ea typeface="Arial"/>
                        <a:cs typeface="Arial"/>
                        <a:sym typeface="Arial"/>
                      </a:endParaRPr>
                    </a:p>
                    <a:p>
                      <a:pPr marL="0" marR="0" lvl="0" indent="0" algn="ctr" rtl="0">
                        <a:lnSpc>
                          <a:spcPct val="100000"/>
                        </a:lnSpc>
                        <a:spcBef>
                          <a:spcPts val="23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Socialización: </a:t>
                      </a:r>
                      <a:r>
                        <a:rPr lang="es-ES" sz="1800" b="1" dirty="0">
                          <a:latin typeface="Tahoma"/>
                          <a:ea typeface="Tahoma"/>
                          <a:cs typeface="Tahoma"/>
                          <a:sym typeface="Tahoma"/>
                        </a:rPr>
                        <a:t>26</a:t>
                      </a:r>
                      <a:r>
                        <a:rPr lang="es-ES" sz="1800" b="1" u="none" strike="noStrike" cap="none" dirty="0">
                          <a:latin typeface="Tahoma"/>
                          <a:ea typeface="Tahoma"/>
                          <a:cs typeface="Tahoma"/>
                          <a:sym typeface="Tahoma"/>
                        </a:rPr>
                        <a:t>-</a:t>
                      </a:r>
                      <a:r>
                        <a:rPr lang="es-ES" sz="1800" b="1" dirty="0">
                          <a:latin typeface="Tahoma"/>
                          <a:ea typeface="Tahoma"/>
                          <a:cs typeface="Tahoma"/>
                          <a:sym typeface="Tahoma"/>
                        </a:rPr>
                        <a:t>may</a:t>
                      </a:r>
                      <a:r>
                        <a:rPr lang="es-ES" sz="1800" b="1" u="none" strike="noStrike" cap="none" dirty="0">
                          <a:latin typeface="Tahoma"/>
                          <a:ea typeface="Tahoma"/>
                          <a:cs typeface="Tahoma"/>
                          <a:sym typeface="Tahoma"/>
                        </a:rPr>
                        <a:t>-202</a:t>
                      </a:r>
                      <a:r>
                        <a:rPr lang="es-ES" sz="1800" b="1" dirty="0">
                          <a:latin typeface="Tahoma"/>
                          <a:ea typeface="Tahoma"/>
                          <a:cs typeface="Tahoma"/>
                          <a:sym typeface="Tahoma"/>
                        </a:rPr>
                        <a:t>6</a:t>
                      </a:r>
                      <a:endParaRPr sz="1800" b="1" u="none" strike="noStrike" cap="none" dirty="0">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tc hMerge="1">
                  <a:txBody>
                    <a:bodyPr/>
                    <a:lstStyle/>
                    <a:p>
                      <a:endParaRPr lang="es-CO"/>
                    </a:p>
                  </a:txBody>
                  <a:tcPr/>
                </a:tc>
                <a:tc>
                  <a:txBody>
                    <a:bodyPr/>
                    <a:lstStyle/>
                    <a:p>
                      <a:pPr marL="0" marR="0" lvl="0" indent="0" algn="ctr" rtl="0">
                        <a:lnSpc>
                          <a:spcPct val="100000"/>
                        </a:lnSpc>
                        <a:spcBef>
                          <a:spcPts val="0"/>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a:t>
                      </a:r>
                      <a:endParaRPr sz="1800" b="0" u="none" strike="noStrike" cap="none" dirty="0">
                        <a:solidFill>
                          <a:srgbClr val="FFFFFF"/>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38150" cap="flat" cmpd="sng">
                      <a:solidFill>
                        <a:srgbClr val="FFFFFF"/>
                      </a:solidFill>
                      <a:prstDash val="solid"/>
                      <a:round/>
                      <a:headEnd type="none" w="sm" len="sm"/>
                      <a:tailEnd type="none" w="sm" len="sm"/>
                    </a:lnB>
                    <a:solidFill>
                      <a:srgbClr val="4AACC5"/>
                    </a:solidFill>
                  </a:tcPr>
                </a:tc>
                <a:extLst>
                  <a:ext uri="{0D108BD9-81ED-4DB2-BD59-A6C34878D82A}">
                    <a16:rowId xmlns:a16="http://schemas.microsoft.com/office/drawing/2014/main" val="10000"/>
                  </a:ext>
                </a:extLst>
              </a:tr>
              <a:tr h="337675">
                <a:tc rowSpan="3">
                  <a:txBody>
                    <a:bodyPr/>
                    <a:lstStyle/>
                    <a:p>
                      <a:pPr marL="91440" marR="0" lvl="0" indent="0" algn="l"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Tercer Corte</a:t>
                      </a:r>
                      <a:endParaRPr sz="1800" b="0" u="none" strike="noStrike" cap="none">
                        <a:solidFill>
                          <a:srgbClr val="000000"/>
                        </a:solidFill>
                        <a:latin typeface="Arial"/>
                        <a:ea typeface="Arial"/>
                        <a:cs typeface="Arial"/>
                        <a:sym typeface="Arial"/>
                      </a:endParaRPr>
                    </a:p>
                    <a:p>
                      <a:pPr marL="91440" marR="0" lvl="0" indent="0" algn="l" rtl="0">
                        <a:lnSpc>
                          <a:spcPct val="100000"/>
                        </a:lnSpc>
                        <a:spcBef>
                          <a:spcPts val="235"/>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rowSpan="3">
                  <a:txBody>
                    <a:bodyPr/>
                    <a:lstStyle/>
                    <a:p>
                      <a:pPr marL="91440" marR="0" lvl="0" indent="0" algn="l"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Calibri"/>
                          <a:ea typeface="Calibri"/>
                          <a:cs typeface="Calibri"/>
                          <a:sym typeface="Calibri"/>
                        </a:rPr>
                        <a:t>Tercer corte o reporte de notas (40%)</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AUTOEVALUACIÓN</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2%</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38150"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1"/>
                  </a:ext>
                </a:extLst>
              </a:tr>
              <a:tr h="678600">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endParaRPr sz="1800" b="0" u="none" strike="noStrike" cap="none">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a:solidFill>
                            <a:srgbClr val="000000"/>
                          </a:solidFill>
                          <a:latin typeface="Tahoma"/>
                          <a:ea typeface="Tahoma"/>
                          <a:cs typeface="Tahoma"/>
                          <a:sym typeface="Tahoma"/>
                        </a:rPr>
                        <a:t>COEVALUACIÓN</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tc>
                  <a:txBody>
                    <a:bodyPr/>
                    <a:lstStyle/>
                    <a:p>
                      <a:pPr marL="92160" marR="0" lvl="0" indent="0" algn="ctr" rtl="0">
                        <a:lnSpc>
                          <a:spcPct val="100000"/>
                        </a:lnSpc>
                        <a:spcBef>
                          <a:spcPts val="0"/>
                        </a:spcBef>
                        <a:spcAft>
                          <a:spcPts val="0"/>
                        </a:spcAft>
                        <a:buClr>
                          <a:srgbClr val="000000"/>
                        </a:buClr>
                        <a:buSzPts val="1800"/>
                        <a:buFont typeface="Arial"/>
                        <a:buNone/>
                      </a:pPr>
                      <a:r>
                        <a:rPr lang="es-ES" sz="1800" b="0" u="none" strike="noStrike" cap="none">
                          <a:solidFill>
                            <a:srgbClr val="000000"/>
                          </a:solidFill>
                          <a:latin typeface="Tahoma"/>
                          <a:ea typeface="Tahoma"/>
                          <a:cs typeface="Tahoma"/>
                          <a:sym typeface="Tahoma"/>
                        </a:rPr>
                        <a:t>3%</a:t>
                      </a:r>
                      <a:endParaRPr sz="18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E9F0F5"/>
                    </a:solidFill>
                  </a:tcPr>
                </a:tc>
                <a:extLst>
                  <a:ext uri="{0D108BD9-81ED-4DB2-BD59-A6C34878D82A}">
                    <a16:rowId xmlns:a16="http://schemas.microsoft.com/office/drawing/2014/main" val="10002"/>
                  </a:ext>
                </a:extLst>
              </a:tr>
              <a:tr h="3746875">
                <a:tc vMerge="1">
                  <a:txBody>
                    <a:bodyPr/>
                    <a:lstStyle/>
                    <a:p>
                      <a:endParaRPr lang="es-CO"/>
                    </a:p>
                  </a:txBody>
                  <a:tcPr/>
                </a:tc>
                <a:tc vMerge="1">
                  <a:txBody>
                    <a:bodyPr/>
                    <a:lstStyle/>
                    <a:p>
                      <a:endParaRPr lang="es-CO"/>
                    </a:p>
                  </a:txBody>
                  <a:tcPr/>
                </a:tc>
                <a:tc>
                  <a:txBody>
                    <a:bodyPr/>
                    <a:lstStyle/>
                    <a:p>
                      <a:pPr marL="92160" marR="0" lvl="0" indent="0" algn="l" rtl="0">
                        <a:lnSpc>
                          <a:spcPct val="100000"/>
                        </a:lnSpc>
                        <a:spcBef>
                          <a:spcPts val="0"/>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HETEROEVALUACIÓN</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dirty="0">
                          <a:latin typeface="Tahoma"/>
                          <a:ea typeface="Tahoma"/>
                          <a:cs typeface="Tahoma"/>
                          <a:sym typeface="Tahoma"/>
                        </a:rPr>
                        <a:t>Foro</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dirty="0">
                          <a:latin typeface="Tahoma"/>
                          <a:ea typeface="Tahoma"/>
                          <a:cs typeface="Tahoma"/>
                          <a:sym typeface="Tahoma"/>
                        </a:rPr>
                        <a:t>Quiz</a:t>
                      </a:r>
                      <a:r>
                        <a:rPr lang="es-ES" sz="1800" b="1" u="none" strike="noStrike" cap="none" dirty="0">
                          <a:solidFill>
                            <a:srgbClr val="000000"/>
                          </a:solidFill>
                          <a:latin typeface="Tahoma"/>
                          <a:ea typeface="Tahoma"/>
                          <a:cs typeface="Tahoma"/>
                          <a:sym typeface="Tahoma"/>
                        </a:rPr>
                        <a:t> </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Proyecto Final</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Certificación </a:t>
                      </a: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l" rtl="0">
                        <a:lnSpc>
                          <a:spcPct val="100000"/>
                        </a:lnSpc>
                        <a:spcBef>
                          <a:spcPts val="235"/>
                        </a:spcBef>
                        <a:spcAft>
                          <a:spcPts val="0"/>
                        </a:spcAft>
                        <a:buClr>
                          <a:srgbClr val="000000"/>
                        </a:buClr>
                        <a:buSzPts val="1800"/>
                        <a:buFont typeface="Arial"/>
                        <a:buNone/>
                      </a:pPr>
                      <a:r>
                        <a:rPr lang="es-ES" sz="1800" b="1" u="none" strike="noStrike" cap="none" dirty="0">
                          <a:solidFill>
                            <a:srgbClr val="000000"/>
                          </a:solidFill>
                          <a:latin typeface="Tahoma"/>
                          <a:ea typeface="Tahoma"/>
                          <a:cs typeface="Tahoma"/>
                          <a:sym typeface="Tahoma"/>
                        </a:rPr>
                        <a:t>Examen – Parcial</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tc>
                  <a:txBody>
                    <a:bodyPr/>
                    <a:lstStyle/>
                    <a:p>
                      <a:pPr marL="92160" marR="0" lvl="0" indent="0" algn="ctr" rtl="0">
                        <a:lnSpc>
                          <a:spcPct val="100000"/>
                        </a:lnSpc>
                        <a:spcBef>
                          <a:spcPts val="0"/>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15%</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0" marR="0" lvl="0" indent="0" algn="l" rtl="0">
                        <a:lnSpc>
                          <a:spcPct val="100000"/>
                        </a:lnSpc>
                        <a:spcBef>
                          <a:spcPts val="235"/>
                        </a:spcBef>
                        <a:spcAft>
                          <a:spcPts val="0"/>
                        </a:spcAft>
                        <a:buClr>
                          <a:srgbClr val="000000"/>
                        </a:buClr>
                        <a:buSzPts val="1800"/>
                        <a:buFont typeface="Arial"/>
                        <a:buNone/>
                      </a:pPr>
                      <a:r>
                        <a:rPr lang="es-ES" sz="1800" dirty="0"/>
                        <a:t>   </a:t>
                      </a:r>
                      <a:r>
                        <a:rPr lang="es-ES" sz="1800" b="0" u="none" strike="noStrike" cap="none" dirty="0">
                          <a:solidFill>
                            <a:srgbClr val="000000"/>
                          </a:solidFill>
                          <a:latin typeface="Tahoma"/>
                          <a:ea typeface="Tahoma"/>
                          <a:cs typeface="Tahoma"/>
                          <a:sym typeface="Tahoma"/>
                        </a:rPr>
                        <a:t>10%</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10%</a:t>
                      </a: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endParaRPr sz="1800" b="0" u="none" strike="noStrike" cap="none" dirty="0">
                        <a:solidFill>
                          <a:srgbClr val="000000"/>
                        </a:solidFill>
                        <a:latin typeface="Arial"/>
                        <a:ea typeface="Arial"/>
                        <a:cs typeface="Arial"/>
                        <a:sym typeface="Arial"/>
                      </a:endParaRPr>
                    </a:p>
                    <a:p>
                      <a:pPr marL="92160" marR="0" lvl="0" indent="0" algn="ctr" rtl="0">
                        <a:lnSpc>
                          <a:spcPct val="100000"/>
                        </a:lnSpc>
                        <a:spcBef>
                          <a:spcPts val="235"/>
                        </a:spcBef>
                        <a:spcAft>
                          <a:spcPts val="0"/>
                        </a:spcAft>
                        <a:buClr>
                          <a:srgbClr val="000000"/>
                        </a:buClr>
                        <a:buSzPts val="1800"/>
                        <a:buFont typeface="Arial"/>
                        <a:buNone/>
                      </a:pPr>
                      <a:r>
                        <a:rPr lang="es-ES" sz="1800" b="0" u="none" strike="noStrike" cap="none" dirty="0">
                          <a:solidFill>
                            <a:srgbClr val="000000"/>
                          </a:solidFill>
                          <a:latin typeface="Tahoma"/>
                          <a:ea typeface="Tahoma"/>
                          <a:cs typeface="Tahoma"/>
                          <a:sym typeface="Tahoma"/>
                        </a:rPr>
                        <a:t>60%</a:t>
                      </a:r>
                      <a:endParaRPr sz="1800" b="0" u="none" strike="noStrike" cap="none" dirty="0">
                        <a:solidFill>
                          <a:srgbClr val="000000"/>
                        </a:solidFill>
                        <a:latin typeface="Arial"/>
                        <a:ea typeface="Arial"/>
                        <a:cs typeface="Arial"/>
                        <a:sym typeface="Arial"/>
                      </a:endParaRPr>
                    </a:p>
                  </a:txBody>
                  <a:tcPr marL="91450" marR="91450" marT="45725" marB="45725" anchor="ctr">
                    <a:lnL w="12225" cap="flat" cmpd="sng">
                      <a:solidFill>
                        <a:srgbClr val="FFFFFF"/>
                      </a:solidFill>
                      <a:prstDash val="solid"/>
                      <a:round/>
                      <a:headEnd type="none" w="sm" len="sm"/>
                      <a:tailEnd type="none" w="sm" len="sm"/>
                    </a:lnL>
                    <a:lnR w="12225" cap="flat" cmpd="sng">
                      <a:solidFill>
                        <a:srgbClr val="FFFFFF"/>
                      </a:solidFill>
                      <a:prstDash val="solid"/>
                      <a:round/>
                      <a:headEnd type="none" w="sm" len="sm"/>
                      <a:tailEnd type="none" w="sm" len="sm"/>
                    </a:lnR>
                    <a:lnT w="12225" cap="flat" cmpd="sng">
                      <a:solidFill>
                        <a:srgbClr val="FFFFFF"/>
                      </a:solidFill>
                      <a:prstDash val="solid"/>
                      <a:round/>
                      <a:headEnd type="none" w="sm" len="sm"/>
                      <a:tailEnd type="none" w="sm" len="sm"/>
                    </a:lnT>
                    <a:lnB w="12225" cap="flat" cmpd="sng">
                      <a:solidFill>
                        <a:srgbClr val="FFFFFF"/>
                      </a:solidFill>
                      <a:prstDash val="solid"/>
                      <a:round/>
                      <a:headEnd type="none" w="sm" len="sm"/>
                      <a:tailEnd type="none" w="sm" len="sm"/>
                    </a:lnB>
                    <a:solidFill>
                      <a:srgbClr val="D0E2EA"/>
                    </a:solidFill>
                  </a:tcPr>
                </a:tc>
                <a:extLst>
                  <a:ext uri="{0D108BD9-81ED-4DB2-BD59-A6C34878D82A}">
                    <a16:rowId xmlns:a16="http://schemas.microsoft.com/office/drawing/2014/main" val="10003"/>
                  </a:ext>
                </a:extLst>
              </a:tr>
            </a:tbl>
          </a:graphicData>
        </a:graphic>
      </p:graphicFrame>
      <p:sp>
        <p:nvSpPr>
          <p:cNvPr id="144" name="Google Shape;144;p23"/>
          <p:cNvSpPr/>
          <p:nvPr/>
        </p:nvSpPr>
        <p:spPr>
          <a:xfrm>
            <a:off x="0" y="194082"/>
            <a:ext cx="8568000" cy="56310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Tercer Corte </a:t>
            </a:r>
            <a:endParaRPr sz="4000" b="1" i="0" u="none" strike="noStrike" cap="none">
              <a:solidFill>
                <a:srgbClr val="1D3F39"/>
              </a:solidFill>
              <a:latin typeface="Calibri"/>
              <a:ea typeface="Calibri"/>
              <a:cs typeface="Calibri"/>
              <a:sym typeface="Calibri"/>
            </a:endParaRPr>
          </a:p>
          <a:p>
            <a:pPr marL="0" lvl="0" indent="0" algn="ctr" rtl="0">
              <a:spcBef>
                <a:spcPts val="0"/>
              </a:spcBef>
              <a:spcAft>
                <a:spcPts val="0"/>
              </a:spcAft>
              <a:buClr>
                <a:schemeClr val="dk1"/>
              </a:buClr>
              <a:buSzPts val="1800"/>
              <a:buFont typeface="Arial"/>
              <a:buNone/>
            </a:pPr>
            <a:r>
              <a:rPr lang="es-ES" sz="1800" b="1">
                <a:solidFill>
                  <a:schemeClr val="dk1"/>
                </a:solidFill>
                <a:latin typeface="Tahoma"/>
                <a:ea typeface="Tahoma"/>
                <a:cs typeface="Tahoma"/>
                <a:sym typeface="Tahoma"/>
              </a:rPr>
              <a:t>25-abr-2026 hasta 30-mayo-2026</a:t>
            </a:r>
            <a:endParaRPr sz="4000" b="1">
              <a:solidFill>
                <a:srgbClr val="1D3F39"/>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p:nvPr/>
        </p:nvSpPr>
        <p:spPr>
          <a:xfrm>
            <a:off x="974520" y="211680"/>
            <a:ext cx="8011800" cy="480600"/>
          </a:xfrm>
          <a:prstGeom prst="rect">
            <a:avLst/>
          </a:prstGeom>
          <a:noFill/>
          <a:ln>
            <a:noFill/>
          </a:ln>
        </p:spPr>
        <p:txBody>
          <a:bodyPr spcFirstLastPara="1" wrap="square" lIns="0" tIns="14400" rIns="0" bIns="0" anchor="t" anchorCtr="0">
            <a:spAutoFit/>
          </a:bodyPr>
          <a:lstStyle/>
          <a:p>
            <a:pPr marL="14400" marR="0" lvl="0" indent="0" algn="ctr" rtl="0">
              <a:lnSpc>
                <a:spcPct val="116815"/>
              </a:lnSpc>
              <a:spcBef>
                <a:spcPts val="0"/>
              </a:spcBef>
              <a:spcAft>
                <a:spcPts val="0"/>
              </a:spcAft>
              <a:buClr>
                <a:srgbClr val="000000"/>
              </a:buClr>
              <a:buSzPts val="3140"/>
              <a:buFont typeface="Arial"/>
              <a:buNone/>
            </a:pPr>
            <a:r>
              <a:rPr lang="es-ES" sz="3140" b="1" i="0" u="none" strike="noStrike" cap="none">
                <a:solidFill>
                  <a:srgbClr val="000000"/>
                </a:solidFill>
                <a:latin typeface="Tahoma"/>
                <a:ea typeface="Tahoma"/>
                <a:cs typeface="Tahoma"/>
                <a:sym typeface="Tahoma"/>
              </a:rPr>
              <a:t>Fechas Importantes </a:t>
            </a:r>
            <a:endParaRPr sz="3140" b="0" i="0" u="none" strike="noStrike" cap="none">
              <a:solidFill>
                <a:srgbClr val="000000"/>
              </a:solidFill>
              <a:latin typeface="Arial"/>
              <a:ea typeface="Arial"/>
              <a:cs typeface="Arial"/>
              <a:sym typeface="Arial"/>
            </a:endParaRPr>
          </a:p>
        </p:txBody>
      </p:sp>
      <p:pic>
        <p:nvPicPr>
          <p:cNvPr id="150" name="Google Shape;150;p24" title="WhatsApp Image 2026-01-23 at 11.51.11 AM.jpeg"/>
          <p:cNvPicPr preferRelativeResize="0"/>
          <p:nvPr/>
        </p:nvPicPr>
        <p:blipFill>
          <a:blip r:embed="rId3">
            <a:alphaModFix/>
          </a:blip>
          <a:stretch>
            <a:fillRect/>
          </a:stretch>
        </p:blipFill>
        <p:spPr>
          <a:xfrm>
            <a:off x="2744175" y="2047080"/>
            <a:ext cx="6000750" cy="2219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p:nvPr/>
        </p:nvSpPr>
        <p:spPr>
          <a:xfrm>
            <a:off x="360000" y="373680"/>
            <a:ext cx="7610040" cy="56304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Condiciones Generales</a:t>
            </a:r>
            <a:endParaRPr sz="4000" b="0" i="0" u="none" strike="noStrike" cap="none">
              <a:solidFill>
                <a:srgbClr val="000000"/>
              </a:solidFill>
              <a:latin typeface="Arial"/>
              <a:ea typeface="Arial"/>
              <a:cs typeface="Arial"/>
              <a:sym typeface="Arial"/>
            </a:endParaRPr>
          </a:p>
        </p:txBody>
      </p:sp>
      <p:sp>
        <p:nvSpPr>
          <p:cNvPr id="156" name="Google Shape;156;p29"/>
          <p:cNvSpPr/>
          <p:nvPr/>
        </p:nvSpPr>
        <p:spPr>
          <a:xfrm>
            <a:off x="720000" y="1281960"/>
            <a:ext cx="10440000" cy="3372120"/>
          </a:xfrm>
          <a:prstGeom prst="rect">
            <a:avLst/>
          </a:prstGeom>
          <a:noFill/>
          <a:ln>
            <a:noFill/>
          </a:ln>
        </p:spPr>
        <p:txBody>
          <a:bodyPr spcFirstLastPara="1" wrap="square" lIns="0" tIns="12950" rIns="0" bIns="0" anchor="t" anchorCtr="0">
            <a:spAutoFit/>
          </a:bodyPr>
          <a:lstStyle/>
          <a:p>
            <a:pPr marL="1368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33720" marR="0" lvl="0" indent="-319320" algn="just" rtl="0">
              <a:lnSpc>
                <a:spcPct val="100000"/>
              </a:lnSpc>
              <a:spcBef>
                <a:spcPts val="0"/>
              </a:spcBef>
              <a:spcAft>
                <a:spcPts val="0"/>
              </a:spcAft>
              <a:buClr>
                <a:srgbClr val="000000"/>
              </a:buClr>
              <a:buSzPts val="1008"/>
              <a:buFont typeface="Noto Sans Symbols"/>
              <a:buChar char="●"/>
            </a:pPr>
            <a:r>
              <a:rPr lang="es-ES" sz="2240" b="0" i="0" u="none" strike="noStrike" cap="none" dirty="0">
                <a:solidFill>
                  <a:srgbClr val="000000"/>
                </a:solidFill>
                <a:latin typeface="Tahoma"/>
                <a:ea typeface="Tahoma"/>
                <a:cs typeface="Tahoma"/>
                <a:sym typeface="Tahoma"/>
              </a:rPr>
              <a:t>Los	trabajos se deben subir a la Plataforma Moodle en la fecha establecida por el docente.</a:t>
            </a:r>
            <a:endParaRPr sz="2240" b="0" i="0" u="none" strike="noStrike" cap="none" dirty="0">
              <a:solidFill>
                <a:srgbClr val="000000"/>
              </a:solidFill>
              <a:latin typeface="Arial"/>
              <a:ea typeface="Arial"/>
              <a:cs typeface="Arial"/>
              <a:sym typeface="Arial"/>
            </a:endParaRPr>
          </a:p>
          <a:p>
            <a:pPr marL="216000" marR="0" lvl="0" indent="-151992" algn="just" rtl="0">
              <a:lnSpc>
                <a:spcPct val="100000"/>
              </a:lnSpc>
              <a:spcBef>
                <a:spcPts val="17"/>
              </a:spcBef>
              <a:spcAft>
                <a:spcPts val="0"/>
              </a:spcAft>
              <a:buClr>
                <a:srgbClr val="000000"/>
              </a:buClr>
              <a:buSzPts val="1008"/>
              <a:buFont typeface="Noto Sans Symbols"/>
              <a:buNone/>
            </a:pPr>
            <a:endParaRPr sz="2240" b="0" i="0" u="none" strike="noStrike" cap="none" dirty="0">
              <a:solidFill>
                <a:srgbClr val="000000"/>
              </a:solidFill>
              <a:latin typeface="Arial"/>
              <a:ea typeface="Arial"/>
              <a:cs typeface="Arial"/>
              <a:sym typeface="Arial"/>
            </a:endParaRPr>
          </a:p>
          <a:p>
            <a:pPr marL="320040" marR="0" lvl="0" indent="-319320" algn="just" rtl="0">
              <a:lnSpc>
                <a:spcPct val="100000"/>
              </a:lnSpc>
              <a:spcBef>
                <a:spcPts val="17"/>
              </a:spcBef>
              <a:spcAft>
                <a:spcPts val="0"/>
              </a:spcAft>
              <a:buClr>
                <a:srgbClr val="000000"/>
              </a:buClr>
              <a:buSzPts val="1008"/>
              <a:buFont typeface="Noto Sans Symbols"/>
              <a:buChar char="●"/>
            </a:pPr>
            <a:r>
              <a:rPr lang="es-ES" sz="2240" b="0" i="0" u="none" strike="noStrike" cap="none" dirty="0">
                <a:solidFill>
                  <a:srgbClr val="000000"/>
                </a:solidFill>
                <a:latin typeface="Tahoma"/>
                <a:ea typeface="Tahoma"/>
                <a:cs typeface="Tahoma"/>
                <a:sym typeface="Tahoma"/>
              </a:rPr>
              <a:t>Los estudiantes serán evaluados durante todo el semestre académico.</a:t>
            </a:r>
            <a:endParaRPr sz="2240" b="0" i="0" u="none" strike="noStrike" cap="none" dirty="0">
              <a:solidFill>
                <a:srgbClr val="000000"/>
              </a:solidFill>
              <a:latin typeface="Arial"/>
              <a:ea typeface="Arial"/>
              <a:cs typeface="Arial"/>
              <a:sym typeface="Arial"/>
            </a:endParaRPr>
          </a:p>
          <a:p>
            <a:pPr marL="216000" marR="0" lvl="0" indent="-151992" algn="just" rtl="0">
              <a:lnSpc>
                <a:spcPct val="100000"/>
              </a:lnSpc>
              <a:spcBef>
                <a:spcPts val="17"/>
              </a:spcBef>
              <a:spcAft>
                <a:spcPts val="0"/>
              </a:spcAft>
              <a:buClr>
                <a:srgbClr val="000000"/>
              </a:buClr>
              <a:buSzPts val="1008"/>
              <a:buFont typeface="Noto Sans Symbols"/>
              <a:buNone/>
            </a:pPr>
            <a:endParaRPr sz="2240" b="0" i="0" u="none" strike="noStrike" cap="none" dirty="0">
              <a:solidFill>
                <a:srgbClr val="000000"/>
              </a:solidFill>
              <a:latin typeface="Arial"/>
              <a:ea typeface="Arial"/>
              <a:cs typeface="Arial"/>
              <a:sym typeface="Arial"/>
            </a:endParaRPr>
          </a:p>
          <a:p>
            <a:pPr marL="320040" marR="0" lvl="0" indent="-319320" algn="just" rtl="0">
              <a:lnSpc>
                <a:spcPct val="100000"/>
              </a:lnSpc>
              <a:spcBef>
                <a:spcPts val="17"/>
              </a:spcBef>
              <a:spcAft>
                <a:spcPts val="0"/>
              </a:spcAft>
              <a:buClr>
                <a:srgbClr val="000000"/>
              </a:buClr>
              <a:buSzPts val="1008"/>
              <a:buFont typeface="Noto Sans Symbols"/>
              <a:buChar char="●"/>
            </a:pPr>
            <a:r>
              <a:rPr lang="es-ES" sz="2240" b="0" i="0" u="none" strike="noStrike" cap="none" dirty="0">
                <a:solidFill>
                  <a:srgbClr val="000000"/>
                </a:solidFill>
                <a:latin typeface="Tahoma"/>
                <a:ea typeface="Tahoma"/>
                <a:cs typeface="Tahoma"/>
                <a:sym typeface="Tahoma"/>
              </a:rPr>
              <a:t>Inasistencia – Corhuila Plus. </a:t>
            </a:r>
            <a:endParaRPr sz="2240" b="0" i="0" u="none" strike="noStrike" cap="none" dirty="0">
              <a:solidFill>
                <a:srgbClr val="000000"/>
              </a:solidFill>
              <a:latin typeface="Arial"/>
              <a:ea typeface="Arial"/>
              <a:cs typeface="Arial"/>
              <a:sym typeface="Arial"/>
            </a:endParaRPr>
          </a:p>
          <a:p>
            <a:pPr marL="216000" marR="0" lvl="0" indent="-151992" algn="just" rtl="0">
              <a:lnSpc>
                <a:spcPct val="100000"/>
              </a:lnSpc>
              <a:spcBef>
                <a:spcPts val="17"/>
              </a:spcBef>
              <a:spcAft>
                <a:spcPts val="0"/>
              </a:spcAft>
              <a:buClr>
                <a:srgbClr val="000000"/>
              </a:buClr>
              <a:buSzPts val="1008"/>
              <a:buFont typeface="Noto Sans Symbols"/>
              <a:buNone/>
            </a:pPr>
            <a:endParaRPr sz="2240" b="0" i="0" u="none" strike="noStrike" cap="none" dirty="0">
              <a:solidFill>
                <a:srgbClr val="000000"/>
              </a:solidFill>
              <a:latin typeface="Arial"/>
              <a:ea typeface="Arial"/>
              <a:cs typeface="Arial"/>
              <a:sym typeface="Arial"/>
            </a:endParaRPr>
          </a:p>
          <a:p>
            <a:pPr marL="320040" marR="0" lvl="0" indent="-319320" algn="just" rtl="0">
              <a:lnSpc>
                <a:spcPct val="100000"/>
              </a:lnSpc>
              <a:spcBef>
                <a:spcPts val="17"/>
              </a:spcBef>
              <a:spcAft>
                <a:spcPts val="0"/>
              </a:spcAft>
              <a:buClr>
                <a:srgbClr val="000000"/>
              </a:buClr>
              <a:buSzPts val="1008"/>
              <a:buFont typeface="Noto Sans Symbols"/>
              <a:buChar char="●"/>
            </a:pPr>
            <a:r>
              <a:rPr lang="es-ES" sz="2240" b="0" i="0" u="none" strike="noStrike" cap="none" dirty="0">
                <a:solidFill>
                  <a:srgbClr val="000000"/>
                </a:solidFill>
                <a:latin typeface="Tahoma"/>
                <a:ea typeface="Tahoma"/>
                <a:cs typeface="Tahoma"/>
                <a:sym typeface="Tahoma"/>
              </a:rPr>
              <a:t>Para los que han tenido dificultad de salud, se debe seguir el protocolo de Corhuila.</a:t>
            </a:r>
            <a:endParaRPr sz="224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p:nvPr/>
        </p:nvSpPr>
        <p:spPr>
          <a:xfrm>
            <a:off x="1766810" y="280700"/>
            <a:ext cx="6156000" cy="552000"/>
          </a:xfrm>
          <a:prstGeom prst="rect">
            <a:avLst/>
          </a:prstGeom>
          <a:noFill/>
          <a:ln>
            <a:noFill/>
          </a:ln>
        </p:spPr>
        <p:txBody>
          <a:bodyPr spcFirstLastPara="1" wrap="square" lIns="72700" tIns="36350" rIns="72700" bIns="36350" anchor="t" anchorCtr="0">
            <a:spAutoFit/>
          </a:bodyPr>
          <a:lstStyle/>
          <a:p>
            <a:pPr marL="0" marR="0" lvl="0" indent="0" algn="ctr" rtl="0">
              <a:lnSpc>
                <a:spcPct val="100000"/>
              </a:lnSpc>
              <a:spcBef>
                <a:spcPts val="0"/>
              </a:spcBef>
              <a:spcAft>
                <a:spcPts val="0"/>
              </a:spcAft>
              <a:buClr>
                <a:srgbClr val="000000"/>
              </a:buClr>
              <a:buSzPts val="3140"/>
              <a:buFont typeface="Arial"/>
              <a:buNone/>
            </a:pPr>
            <a:r>
              <a:rPr lang="es-ES" sz="4000" b="1">
                <a:solidFill>
                  <a:srgbClr val="1D3F39"/>
                </a:solidFill>
                <a:latin typeface="Calibri"/>
                <a:ea typeface="Calibri"/>
                <a:cs typeface="Calibri"/>
                <a:sym typeface="Calibri"/>
              </a:rPr>
              <a:t>Condiciones Generales</a:t>
            </a:r>
            <a:endParaRPr sz="4000" b="1">
              <a:solidFill>
                <a:srgbClr val="1D3F39"/>
              </a:solidFill>
              <a:latin typeface="Calibri"/>
              <a:ea typeface="Calibri"/>
              <a:cs typeface="Calibri"/>
              <a:sym typeface="Calibri"/>
            </a:endParaRPr>
          </a:p>
        </p:txBody>
      </p:sp>
      <p:sp>
        <p:nvSpPr>
          <p:cNvPr id="162" name="Google Shape;162;p25"/>
          <p:cNvSpPr/>
          <p:nvPr/>
        </p:nvSpPr>
        <p:spPr>
          <a:xfrm>
            <a:off x="720000" y="1591560"/>
            <a:ext cx="10584000" cy="2743560"/>
          </a:xfrm>
          <a:prstGeom prst="rect">
            <a:avLst/>
          </a:prstGeom>
          <a:noFill/>
          <a:ln>
            <a:noFill/>
          </a:ln>
        </p:spPr>
        <p:txBody>
          <a:bodyPr spcFirstLastPara="1" wrap="square" lIns="0" tIns="12950" rIns="0" bIns="0" anchor="t" anchorCtr="0">
            <a:spAutoFit/>
          </a:bodyPr>
          <a:lstStyle/>
          <a:p>
            <a:pPr marL="333720" marR="0" lvl="0" indent="-319319" algn="just" rtl="0">
              <a:lnSpc>
                <a:spcPct val="100000"/>
              </a:lnSpc>
              <a:spcBef>
                <a:spcPts val="0"/>
              </a:spcBef>
              <a:spcAft>
                <a:spcPts val="0"/>
              </a:spcAft>
              <a:buSzPts val="1008"/>
              <a:buFont typeface="Noto Sans Symbols"/>
              <a:buChar char="●"/>
            </a:pPr>
            <a:r>
              <a:rPr lang="es-ES" sz="2240">
                <a:latin typeface="Tahoma"/>
                <a:ea typeface="Tahoma"/>
                <a:cs typeface="Tahoma"/>
                <a:sym typeface="Tahoma"/>
              </a:rPr>
              <a:t>Cuando no se cumplan los tiempos de entregas de actividades se calificará sobre 4.0 y debe entregarse el día siguiente como fecha máxima. De lo contrario la nota quedará en cero (0,0), siendo el único medio de recuperación alguna excusa válida según el reglamento estudiantil vigente.  </a:t>
            </a:r>
            <a:endParaRPr sz="2240">
              <a:latin typeface="Tahoma"/>
              <a:ea typeface="Tahoma"/>
              <a:cs typeface="Tahoma"/>
              <a:sym typeface="Tahoma"/>
            </a:endParaRPr>
          </a:p>
          <a:p>
            <a:pPr marL="457200" marR="0" lvl="0" indent="0" algn="just" rtl="0">
              <a:lnSpc>
                <a:spcPct val="100000"/>
              </a:lnSpc>
              <a:spcBef>
                <a:spcPts val="0"/>
              </a:spcBef>
              <a:spcAft>
                <a:spcPts val="0"/>
              </a:spcAft>
              <a:buNone/>
            </a:pPr>
            <a:endParaRPr sz="2240">
              <a:latin typeface="Tahoma"/>
              <a:ea typeface="Tahoma"/>
              <a:cs typeface="Tahoma"/>
              <a:sym typeface="Tahoma"/>
            </a:endParaRPr>
          </a:p>
          <a:p>
            <a:pPr marL="333720" marR="0" lvl="0" indent="-319319" algn="just" rtl="0">
              <a:lnSpc>
                <a:spcPct val="100000"/>
              </a:lnSpc>
              <a:spcBef>
                <a:spcPts val="0"/>
              </a:spcBef>
              <a:spcAft>
                <a:spcPts val="0"/>
              </a:spcAft>
              <a:buSzPts val="1008"/>
              <a:buFont typeface="Noto Sans Symbols"/>
              <a:buChar char="●"/>
            </a:pPr>
            <a:r>
              <a:rPr lang="es-ES" sz="2240">
                <a:latin typeface="Tahoma"/>
                <a:ea typeface="Tahoma"/>
                <a:cs typeface="Tahoma"/>
                <a:sym typeface="Tahoma"/>
              </a:rPr>
              <a:t>El diferido para el parcial solo se podrá hacer cuando no se asiste al parcial y se presenta excusa válida según el reglamento estudiantil.</a:t>
            </a:r>
            <a:endParaRPr sz="224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p:nvPr/>
        </p:nvSpPr>
        <p:spPr>
          <a:xfrm>
            <a:off x="1080000" y="1264680"/>
            <a:ext cx="9576000" cy="3320640"/>
          </a:xfrm>
          <a:prstGeom prst="rect">
            <a:avLst/>
          </a:prstGeom>
          <a:noFill/>
          <a:ln>
            <a:noFill/>
          </a:ln>
        </p:spPr>
        <p:txBody>
          <a:bodyPr spcFirstLastPara="1" wrap="square" lIns="90000" tIns="45000" rIns="90000" bIns="45000" anchor="t" anchorCtr="0">
            <a:spAutoFit/>
          </a:bodyPr>
          <a:lstStyle/>
          <a:p>
            <a:pPr marL="343080" marR="0" lvl="0" indent="-342360" algn="l" rtl="0">
              <a:lnSpc>
                <a:spcPct val="115000"/>
              </a:lnSpc>
              <a:spcBef>
                <a:spcPts val="0"/>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Clase Magistral.</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Asesoría personalizada - por medio de tutorías.</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Trabajo en grupo.</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Lecturas obligatorias y complementarias en español e inglés.</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Consultas en biblioteca – CORHUILA.</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1080"/>
              <a:buFont typeface="Noto Sans Symbols"/>
              <a:buChar char="●"/>
            </a:pPr>
            <a:r>
              <a:rPr lang="es-ES" sz="2400" b="0" i="0" u="none" strike="noStrike" cap="none">
                <a:solidFill>
                  <a:srgbClr val="000000"/>
                </a:solidFill>
                <a:latin typeface="Calibri"/>
                <a:ea typeface="Calibri"/>
                <a:cs typeface="Calibri"/>
                <a:sym typeface="Calibri"/>
              </a:rPr>
              <a:t>Consultas bases de datos e Internet.</a:t>
            </a:r>
            <a:endParaRPr sz="2400" b="0" i="0" u="none" strike="noStrike" cap="none">
              <a:solidFill>
                <a:srgbClr val="000000"/>
              </a:solidFill>
              <a:latin typeface="Arial"/>
              <a:ea typeface="Arial"/>
              <a:cs typeface="Arial"/>
              <a:sym typeface="Arial"/>
            </a:endParaRPr>
          </a:p>
        </p:txBody>
      </p:sp>
      <p:sp>
        <p:nvSpPr>
          <p:cNvPr id="168" name="Google Shape;168;p27"/>
          <p:cNvSpPr/>
          <p:nvPr/>
        </p:nvSpPr>
        <p:spPr>
          <a:xfrm>
            <a:off x="288000" y="300960"/>
            <a:ext cx="8319960" cy="56304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Metodología Implementada </a:t>
            </a:r>
            <a:endParaRPr sz="40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6"/>
          <p:cNvSpPr/>
          <p:nvPr/>
        </p:nvSpPr>
        <p:spPr>
          <a:xfrm>
            <a:off x="-40680" y="179280"/>
            <a:ext cx="8608680" cy="166032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Medios tecnológicos implementados en el desarrollo de la asignatura </a:t>
            </a:r>
            <a:endParaRPr sz="4000" b="0" i="0" u="none" strike="noStrike" cap="none">
              <a:solidFill>
                <a:srgbClr val="000000"/>
              </a:solidFill>
              <a:latin typeface="Arial"/>
              <a:ea typeface="Arial"/>
              <a:cs typeface="Arial"/>
              <a:sym typeface="Arial"/>
            </a:endParaRPr>
          </a:p>
        </p:txBody>
      </p:sp>
      <p:sp>
        <p:nvSpPr>
          <p:cNvPr id="174" name="Google Shape;174;p26"/>
          <p:cNvSpPr/>
          <p:nvPr/>
        </p:nvSpPr>
        <p:spPr>
          <a:xfrm>
            <a:off x="1045440" y="2316960"/>
            <a:ext cx="8890560" cy="2758680"/>
          </a:xfrm>
          <a:prstGeom prst="rect">
            <a:avLst/>
          </a:prstGeom>
          <a:noFill/>
          <a:ln>
            <a:noFill/>
          </a:ln>
        </p:spPr>
        <p:txBody>
          <a:bodyPr spcFirstLastPara="1" wrap="square" lIns="90000" tIns="45000" rIns="90000" bIns="45000" anchor="t" anchorCtr="0">
            <a:spAutoFit/>
          </a:bodyPr>
          <a:lstStyle/>
          <a:p>
            <a:pPr marL="343080" marR="0" lvl="0" indent="-342360" algn="l" rtl="0">
              <a:lnSpc>
                <a:spcPct val="115000"/>
              </a:lnSpc>
              <a:spcBef>
                <a:spcPts val="0"/>
              </a:spcBef>
              <a:spcAft>
                <a:spcPts val="0"/>
              </a:spcAft>
              <a:buClr>
                <a:srgbClr val="000000"/>
              </a:buClr>
              <a:buSzPts val="2664"/>
              <a:buFont typeface="Noto Sans Symbols"/>
              <a:buChar char="∙"/>
            </a:pPr>
            <a:r>
              <a:rPr lang="es-ES" sz="2400" b="0" i="0" u="none" strike="noStrike" cap="none">
                <a:solidFill>
                  <a:srgbClr val="000000"/>
                </a:solidFill>
                <a:latin typeface="Calibri"/>
                <a:ea typeface="Calibri"/>
                <a:cs typeface="Calibri"/>
                <a:sym typeface="Calibri"/>
              </a:rPr>
              <a:t>Plataforma Moodle.</a:t>
            </a:r>
            <a:endParaRPr sz="2400">
              <a:latin typeface="Calibri"/>
              <a:ea typeface="Calibri"/>
              <a:cs typeface="Calibri"/>
              <a:sym typeface="Calibri"/>
            </a:endParaRPr>
          </a:p>
          <a:p>
            <a:pPr marL="343080" marR="0" lvl="0" indent="-342360" algn="l" rtl="0">
              <a:lnSpc>
                <a:spcPct val="115000"/>
              </a:lnSpc>
              <a:spcBef>
                <a:spcPts val="0"/>
              </a:spcBef>
              <a:spcAft>
                <a:spcPts val="0"/>
              </a:spcAft>
              <a:buClr>
                <a:srgbClr val="000000"/>
              </a:buClr>
              <a:buSzPts val="2664"/>
              <a:buFont typeface="Noto Sans Symbols"/>
              <a:buChar char="∙"/>
            </a:pPr>
            <a:r>
              <a:rPr lang="es-ES" sz="2400">
                <a:solidFill>
                  <a:schemeClr val="dk1"/>
                </a:solidFill>
                <a:latin typeface="Calibri"/>
                <a:ea typeface="Calibri"/>
                <a:cs typeface="Calibri"/>
                <a:sym typeface="Calibri"/>
              </a:rPr>
              <a:t>Correo Electrónico (Outlook).</a:t>
            </a:r>
            <a:endParaRPr sz="2400">
              <a:latin typeface="Calibri"/>
              <a:ea typeface="Calibri"/>
              <a:cs typeface="Calibri"/>
              <a:sym typeface="Calibri"/>
            </a:endParaRPr>
          </a:p>
          <a:p>
            <a:pPr marL="343080" marR="0" lvl="0" indent="-342360" algn="l" rtl="0">
              <a:lnSpc>
                <a:spcPct val="115000"/>
              </a:lnSpc>
              <a:spcBef>
                <a:spcPts val="1114"/>
              </a:spcBef>
              <a:spcAft>
                <a:spcPts val="0"/>
              </a:spcAft>
              <a:buClr>
                <a:srgbClr val="000000"/>
              </a:buClr>
              <a:buSzPts val="2664"/>
              <a:buFont typeface="Noto Sans Symbols"/>
              <a:buChar char="∙"/>
            </a:pPr>
            <a:r>
              <a:rPr lang="es-ES" sz="2400">
                <a:latin typeface="Calibri"/>
                <a:ea typeface="Calibri"/>
                <a:cs typeface="Calibri"/>
                <a:sym typeface="Calibri"/>
              </a:rPr>
              <a:t>Equipos en Teams</a:t>
            </a:r>
            <a:r>
              <a:rPr lang="es-E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Arial"/>
              <a:ea typeface="Arial"/>
              <a:cs typeface="Arial"/>
              <a:sym typeface="Arial"/>
            </a:endParaRPr>
          </a:p>
          <a:p>
            <a:pPr marL="343080" marR="0" lvl="0" indent="-342360" algn="l" rtl="0">
              <a:lnSpc>
                <a:spcPct val="115000"/>
              </a:lnSpc>
              <a:spcBef>
                <a:spcPts val="1114"/>
              </a:spcBef>
              <a:spcAft>
                <a:spcPts val="0"/>
              </a:spcAft>
              <a:buClr>
                <a:srgbClr val="000000"/>
              </a:buClr>
              <a:buSzPts val="2664"/>
              <a:buFont typeface="Noto Sans Symbols"/>
              <a:buChar char="∙"/>
            </a:pPr>
            <a:r>
              <a:rPr lang="es-ES" sz="2400">
                <a:latin typeface="Calibri"/>
                <a:ea typeface="Calibri"/>
                <a:cs typeface="Calibri"/>
                <a:sym typeface="Calibri"/>
              </a:rPr>
              <a:t>OneDrive</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
          <p:cNvSpPr/>
          <p:nvPr/>
        </p:nvSpPr>
        <p:spPr>
          <a:xfrm>
            <a:off x="72000" y="360000"/>
            <a:ext cx="8496000" cy="731520"/>
          </a:xfrm>
          <a:prstGeom prst="rect">
            <a:avLst/>
          </a:prstGeom>
          <a:noFill/>
          <a:ln>
            <a:noFill/>
          </a:ln>
        </p:spPr>
        <p:txBody>
          <a:bodyPr spcFirstLastPara="1" wrap="square" lIns="72700" tIns="36350" rIns="72700" bIns="36350" anchor="t" anchorCtr="0">
            <a:spAutoFit/>
          </a:bodyPr>
          <a:lstStyle/>
          <a:p>
            <a:pPr marL="0" marR="0" lvl="0" indent="0" algn="ctr" rtl="0">
              <a:lnSpc>
                <a:spcPct val="90000"/>
              </a:lnSpc>
              <a:spcBef>
                <a:spcPts val="0"/>
              </a:spcBef>
              <a:spcAft>
                <a:spcPts val="0"/>
              </a:spcAft>
              <a:buClr>
                <a:srgbClr val="000000"/>
              </a:buClr>
              <a:buSzPts val="4800"/>
              <a:buFont typeface="Arial"/>
              <a:buNone/>
            </a:pPr>
            <a:r>
              <a:rPr lang="es-ES" sz="4800" b="1" i="0" u="none" strike="noStrike" cap="none">
                <a:solidFill>
                  <a:srgbClr val="1D3F39"/>
                </a:solidFill>
                <a:latin typeface="Calibri"/>
                <a:ea typeface="Calibri"/>
                <a:cs typeface="Calibri"/>
                <a:sym typeface="Calibri"/>
              </a:rPr>
              <a:t>Actividad</a:t>
            </a:r>
            <a:endParaRPr sz="4800" b="0" i="0" u="none" strike="noStrike" cap="none">
              <a:solidFill>
                <a:srgbClr val="000000"/>
              </a:solidFill>
              <a:latin typeface="Arial"/>
              <a:ea typeface="Arial"/>
              <a:cs typeface="Arial"/>
              <a:sym typeface="Arial"/>
            </a:endParaRPr>
          </a:p>
        </p:txBody>
      </p:sp>
      <p:sp>
        <p:nvSpPr>
          <p:cNvPr id="180" name="Google Shape;180;p3"/>
          <p:cNvSpPr/>
          <p:nvPr/>
        </p:nvSpPr>
        <p:spPr>
          <a:xfrm>
            <a:off x="4565520" y="2286000"/>
            <a:ext cx="5798520" cy="2935440"/>
          </a:xfrm>
          <a:prstGeom prst="roundRect">
            <a:avLst>
              <a:gd name="adj" fmla="val 16667"/>
            </a:avLst>
          </a:prstGeom>
          <a:noFill/>
          <a:ln>
            <a:noFill/>
          </a:ln>
        </p:spPr>
        <p:txBody>
          <a:bodyPr spcFirstLastPara="1" wrap="square" lIns="90000" tIns="45000" rIns="90000" bIns="45000" anchor="ctr" anchorCtr="0">
            <a:noAutofit/>
          </a:bodyPr>
          <a:lstStyle/>
          <a:p>
            <a:pPr marL="362880" lvl="0" indent="-362520" algn="just">
              <a:buSzPts val="2220"/>
              <a:buFont typeface="Noto Sans Symbols"/>
              <a:buAutoNum type="arabicPeriod"/>
            </a:pPr>
            <a:r>
              <a:rPr lang="es-ES" sz="2220" dirty="0"/>
              <a:t>Realizar diagnóstico de forma individual de la asignatura </a:t>
            </a:r>
            <a:r>
              <a:rPr lang="es-ES" sz="2220" b="1" dirty="0"/>
              <a:t>Sistemas Distribuidos.</a:t>
            </a:r>
          </a:p>
          <a:p>
            <a:pPr marL="0" marR="0" lvl="0" indent="0" algn="just" rtl="0">
              <a:lnSpc>
                <a:spcPct val="100000"/>
              </a:lnSpc>
              <a:spcBef>
                <a:spcPts val="0"/>
              </a:spcBef>
              <a:spcAft>
                <a:spcPts val="0"/>
              </a:spcAft>
              <a:buClr>
                <a:srgbClr val="000000"/>
              </a:buClr>
              <a:buSzPts val="2220"/>
              <a:buFont typeface="Arial"/>
              <a:buNone/>
            </a:pPr>
            <a:endParaRPr sz="222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20"/>
              <a:buFont typeface="Arial"/>
              <a:buNone/>
            </a:pPr>
            <a:r>
              <a:rPr lang="es-ES" sz="2220" b="0" i="0" u="none" strike="noStrike" cap="none" dirty="0">
                <a:solidFill>
                  <a:srgbClr val="000000"/>
                </a:solidFill>
                <a:latin typeface="Arial"/>
                <a:ea typeface="Arial"/>
                <a:cs typeface="Arial"/>
                <a:sym typeface="Arial"/>
              </a:rPr>
              <a:t>Formato: </a:t>
            </a:r>
            <a:endParaRPr sz="222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20"/>
              <a:buFont typeface="Arial"/>
              <a:buNone/>
            </a:pPr>
            <a:endParaRPr sz="222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20"/>
              <a:buFont typeface="Arial"/>
              <a:buNone/>
            </a:pPr>
            <a:r>
              <a:rPr lang="es-ES" sz="2220" b="0" i="0" u="none" strike="noStrike" cap="none" dirty="0">
                <a:solidFill>
                  <a:srgbClr val="000000"/>
                </a:solidFill>
                <a:latin typeface="Arial"/>
                <a:ea typeface="Arial"/>
                <a:cs typeface="Arial"/>
                <a:sym typeface="Arial"/>
              </a:rPr>
              <a:t>Se comparte por el correo y/o chat el link para responder en línea el diagnóstico.</a:t>
            </a:r>
            <a:endParaRPr sz="222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90"/>
              <a:buFont typeface="Arial"/>
              <a:buNone/>
            </a:pPr>
            <a:endParaRPr sz="199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p:nvPr/>
        </p:nvSpPr>
        <p:spPr>
          <a:xfrm>
            <a:off x="1008000" y="2087640"/>
            <a:ext cx="10368000" cy="3637463"/>
          </a:xfrm>
          <a:prstGeom prst="rect">
            <a:avLst/>
          </a:prstGeom>
          <a:noFill/>
          <a:ln>
            <a:noFill/>
          </a:ln>
        </p:spPr>
        <p:txBody>
          <a:bodyPr spcFirstLastPara="1" wrap="square" lIns="72700" tIns="36350" rIns="72700" bIns="36350" anchor="t" anchorCtr="0">
            <a:spAutoFit/>
          </a:bodyPr>
          <a:lstStyle/>
          <a:p>
            <a:pPr marL="0" marR="0" lvl="0" indent="0" algn="ctr" rtl="0">
              <a:lnSpc>
                <a:spcPct val="100000"/>
              </a:lnSpc>
              <a:spcBef>
                <a:spcPts val="0"/>
              </a:spcBef>
              <a:spcAft>
                <a:spcPts val="0"/>
              </a:spcAft>
              <a:buClr>
                <a:srgbClr val="000000"/>
              </a:buClr>
              <a:buSzPts val="3180"/>
              <a:buFont typeface="Arial"/>
              <a:buNone/>
            </a:pPr>
            <a:r>
              <a:rPr lang="es-ES" sz="3180" b="1" i="0" u="sng" strike="noStrike" cap="none" dirty="0">
                <a:solidFill>
                  <a:srgbClr val="0563C1"/>
                </a:solidFill>
                <a:latin typeface="Calibri"/>
                <a:ea typeface="Calibri"/>
                <a:cs typeface="Calibri"/>
                <a:sym typeface="Calibri"/>
              </a:rPr>
              <a:t>jesus.gonzalez@corhuila.edu.co</a:t>
            </a:r>
            <a:endParaRPr lang="es-ES" sz="318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180"/>
              <a:buFont typeface="Arial"/>
              <a:buNone/>
            </a:pPr>
            <a:endParaRPr sz="3180" b="0" i="0" u="none" strike="noStrike" cap="none" dirty="0">
              <a:solidFill>
                <a:srgbClr val="000000"/>
              </a:solidFill>
              <a:latin typeface="Arial"/>
              <a:ea typeface="Arial"/>
              <a:cs typeface="Arial"/>
              <a:sym typeface="Arial"/>
            </a:endParaRPr>
          </a:p>
          <a:p>
            <a:pPr marL="362880" marR="0" lvl="0" indent="-362160" algn="l" rtl="0">
              <a:lnSpc>
                <a:spcPct val="150000"/>
              </a:lnSpc>
              <a:spcBef>
                <a:spcPts val="0"/>
              </a:spcBef>
              <a:spcAft>
                <a:spcPts val="0"/>
              </a:spcAft>
              <a:buClr>
                <a:srgbClr val="000000"/>
              </a:buClr>
              <a:buSzPts val="2240"/>
              <a:buFont typeface="Noto Sans Symbols"/>
              <a:buChar char="∙"/>
            </a:pPr>
            <a:r>
              <a:rPr lang="es-ES" sz="2240" b="0" i="0" u="none" strike="noStrike" cap="none" dirty="0">
                <a:solidFill>
                  <a:srgbClr val="000000"/>
                </a:solidFill>
                <a:latin typeface="Tahoma"/>
                <a:ea typeface="Tahoma"/>
                <a:cs typeface="Tahoma"/>
                <a:sym typeface="Tahoma"/>
              </a:rPr>
              <a:t>Nombre completo Estudiante.</a:t>
            </a:r>
            <a:endParaRPr sz="2240" b="0" i="0" u="none" strike="noStrike" cap="none" dirty="0">
              <a:solidFill>
                <a:srgbClr val="000000"/>
              </a:solidFill>
              <a:latin typeface="Arial"/>
              <a:ea typeface="Arial"/>
              <a:cs typeface="Arial"/>
              <a:sym typeface="Arial"/>
            </a:endParaRPr>
          </a:p>
          <a:p>
            <a:pPr marL="362880" marR="0" lvl="0" indent="-362160" algn="l" rtl="0">
              <a:lnSpc>
                <a:spcPct val="150000"/>
              </a:lnSpc>
              <a:spcBef>
                <a:spcPts val="0"/>
              </a:spcBef>
              <a:spcAft>
                <a:spcPts val="0"/>
              </a:spcAft>
              <a:buClr>
                <a:srgbClr val="000000"/>
              </a:buClr>
              <a:buSzPts val="2240"/>
              <a:buFont typeface="Noto Sans Symbols"/>
              <a:buChar char="∙"/>
            </a:pPr>
            <a:r>
              <a:rPr lang="es-ES" sz="2240" b="0" i="0" u="none" strike="noStrike" cap="none" dirty="0">
                <a:solidFill>
                  <a:srgbClr val="000000"/>
                </a:solidFill>
                <a:latin typeface="Tahoma"/>
                <a:ea typeface="Tahoma"/>
                <a:cs typeface="Tahoma"/>
                <a:sym typeface="Tahoma"/>
              </a:rPr>
              <a:t>Nombre de la asignatura.</a:t>
            </a:r>
            <a:endParaRPr sz="2240" b="0" i="0" u="none" strike="noStrike" cap="none" dirty="0">
              <a:solidFill>
                <a:srgbClr val="000000"/>
              </a:solidFill>
              <a:latin typeface="Arial"/>
              <a:ea typeface="Arial"/>
              <a:cs typeface="Arial"/>
              <a:sym typeface="Arial"/>
            </a:endParaRPr>
          </a:p>
          <a:p>
            <a:pPr marL="362880" marR="0" lvl="0" indent="-362160" algn="l" rtl="0">
              <a:lnSpc>
                <a:spcPct val="150000"/>
              </a:lnSpc>
              <a:spcBef>
                <a:spcPts val="0"/>
              </a:spcBef>
              <a:spcAft>
                <a:spcPts val="0"/>
              </a:spcAft>
              <a:buClr>
                <a:srgbClr val="000000"/>
              </a:buClr>
              <a:buSzPts val="2240"/>
              <a:buFont typeface="Noto Sans Symbols"/>
              <a:buChar char="∙"/>
            </a:pPr>
            <a:r>
              <a:rPr lang="es-ES" sz="2240" b="0" i="0" u="none" strike="noStrike" cap="none" dirty="0">
                <a:solidFill>
                  <a:srgbClr val="000000"/>
                </a:solidFill>
                <a:latin typeface="Tahoma"/>
                <a:ea typeface="Tahoma"/>
                <a:cs typeface="Tahoma"/>
                <a:sym typeface="Tahoma"/>
              </a:rPr>
              <a:t>Grupo.</a:t>
            </a:r>
            <a:endParaRPr sz="2240" b="0" i="0" u="none" strike="noStrike" cap="none" dirty="0">
              <a:solidFill>
                <a:srgbClr val="000000"/>
              </a:solidFill>
              <a:latin typeface="Arial"/>
              <a:ea typeface="Arial"/>
              <a:cs typeface="Arial"/>
              <a:sym typeface="Arial"/>
            </a:endParaRPr>
          </a:p>
          <a:p>
            <a:pPr marL="362880" marR="0" lvl="0" indent="-362160" algn="l" rtl="0">
              <a:lnSpc>
                <a:spcPct val="150000"/>
              </a:lnSpc>
              <a:spcBef>
                <a:spcPts val="0"/>
              </a:spcBef>
              <a:spcAft>
                <a:spcPts val="0"/>
              </a:spcAft>
              <a:buClr>
                <a:srgbClr val="000000"/>
              </a:buClr>
              <a:buSzPts val="2240"/>
              <a:buFont typeface="Noto Sans Symbols"/>
              <a:buChar char="∙"/>
            </a:pPr>
            <a:r>
              <a:rPr lang="es-ES" sz="2240" b="0" i="0" u="none" strike="noStrike" cap="none" dirty="0">
                <a:solidFill>
                  <a:srgbClr val="000000"/>
                </a:solidFill>
                <a:latin typeface="Tahoma"/>
                <a:ea typeface="Tahoma"/>
                <a:cs typeface="Tahoma"/>
                <a:sym typeface="Tahoma"/>
              </a:rPr>
              <a:t>Nombre del programa donde está registrada la asignatura.</a:t>
            </a:r>
            <a:endParaRPr sz="2240" b="0" i="0" u="none" strike="noStrike" cap="none" dirty="0">
              <a:solidFill>
                <a:srgbClr val="000000"/>
              </a:solidFill>
              <a:latin typeface="Arial"/>
              <a:ea typeface="Arial"/>
              <a:cs typeface="Arial"/>
              <a:sym typeface="Arial"/>
            </a:endParaRPr>
          </a:p>
          <a:p>
            <a:pPr marL="362880" marR="0" lvl="0" indent="-362160" algn="l" rtl="0">
              <a:lnSpc>
                <a:spcPct val="150000"/>
              </a:lnSpc>
              <a:spcBef>
                <a:spcPts val="0"/>
              </a:spcBef>
              <a:spcAft>
                <a:spcPts val="0"/>
              </a:spcAft>
              <a:buClr>
                <a:srgbClr val="000000"/>
              </a:buClr>
              <a:buSzPts val="2240"/>
              <a:buFont typeface="Noto Sans Symbols"/>
              <a:buChar char="∙"/>
            </a:pPr>
            <a:r>
              <a:rPr lang="es-ES" sz="2240" b="0" i="0" u="none" strike="noStrike" cap="none" dirty="0">
                <a:solidFill>
                  <a:srgbClr val="000000"/>
                </a:solidFill>
                <a:latin typeface="Tahoma"/>
                <a:ea typeface="Tahoma"/>
                <a:cs typeface="Tahoma"/>
                <a:sym typeface="Tahoma"/>
              </a:rPr>
              <a:t>Dificultad que presenta (certificación, incapacidad, visto bueno del programa).</a:t>
            </a:r>
            <a:endParaRPr sz="2240" b="0" i="0" u="none" strike="noStrike" cap="none" dirty="0">
              <a:solidFill>
                <a:srgbClr val="000000"/>
              </a:solidFill>
              <a:latin typeface="Arial"/>
              <a:ea typeface="Arial"/>
              <a:cs typeface="Arial"/>
              <a:sym typeface="Arial"/>
            </a:endParaRPr>
          </a:p>
        </p:txBody>
      </p:sp>
      <p:sp>
        <p:nvSpPr>
          <p:cNvPr id="187" name="Google Shape;187;p30"/>
          <p:cNvSpPr/>
          <p:nvPr/>
        </p:nvSpPr>
        <p:spPr>
          <a:xfrm>
            <a:off x="144000" y="212400"/>
            <a:ext cx="8313480" cy="1660320"/>
          </a:xfrm>
          <a:prstGeom prst="rect">
            <a:avLst/>
          </a:prstGeom>
          <a:noFill/>
          <a:ln>
            <a:noFill/>
          </a:ln>
        </p:spPr>
        <p:txBody>
          <a:bodyPr spcFirstLastPara="1" wrap="square" lIns="0" tIns="13675" rIns="0" bIns="0" anchor="ctr" anchorCtr="0">
            <a:spAutoFit/>
          </a:bodyPr>
          <a:lstStyle/>
          <a:p>
            <a:pPr marL="0" marR="0" lvl="0" indent="0" algn="ctr" rtl="0">
              <a:lnSpc>
                <a:spcPct val="90000"/>
              </a:lnSpc>
              <a:spcBef>
                <a:spcPts val="0"/>
              </a:spcBef>
              <a:spcAft>
                <a:spcPts val="0"/>
              </a:spcAft>
              <a:buClr>
                <a:srgbClr val="000000"/>
              </a:buClr>
              <a:buSzPts val="4000"/>
              <a:buFont typeface="Arial"/>
              <a:buNone/>
            </a:pPr>
            <a:r>
              <a:rPr lang="es-ES" sz="4000" b="1" i="0" u="none" strike="noStrike" cap="none">
                <a:solidFill>
                  <a:srgbClr val="1D3F39"/>
                </a:solidFill>
                <a:latin typeface="Calibri"/>
                <a:ea typeface="Calibri"/>
                <a:cs typeface="Calibri"/>
                <a:sym typeface="Calibri"/>
              </a:rPr>
              <a:t>Recomendaciones en el momento de enviar un correo al docente</a:t>
            </a:r>
            <a:endParaRPr sz="40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p:nvPr/>
        </p:nvSpPr>
        <p:spPr>
          <a:xfrm>
            <a:off x="1939320" y="2644200"/>
            <a:ext cx="6888960" cy="155340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s-ES" sz="6000" b="1" i="0" u="none" strike="noStrike" cap="none">
                <a:solidFill>
                  <a:srgbClr val="1D3F39"/>
                </a:solidFill>
                <a:latin typeface="Calibri"/>
                <a:ea typeface="Calibri"/>
                <a:cs typeface="Calibri"/>
                <a:sym typeface="Calibri"/>
              </a:rPr>
              <a:t>Gracias</a:t>
            </a:r>
            <a:endParaRPr sz="6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800"/>
              <a:buFont typeface="Arial"/>
              <a:buNone/>
            </a:pPr>
            <a:endParaRPr sz="48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1238</Words>
  <Application>Microsoft Office PowerPoint</Application>
  <PresentationFormat>Panorámica</PresentationFormat>
  <Paragraphs>248</Paragraphs>
  <Slides>24</Slides>
  <Notes>24</Notes>
  <HiddenSlides>0</HiddenSlides>
  <MMClips>0</MMClips>
  <ScaleCrop>false</ScaleCrop>
  <HeadingPairs>
    <vt:vector size="6" baseType="variant">
      <vt:variant>
        <vt:lpstr>Fuentes usadas</vt:lpstr>
      </vt:variant>
      <vt:variant>
        <vt:i4>5</vt:i4>
      </vt:variant>
      <vt:variant>
        <vt:lpstr>Tema</vt:lpstr>
      </vt:variant>
      <vt:variant>
        <vt:i4>4</vt:i4>
      </vt:variant>
      <vt:variant>
        <vt:lpstr>Títulos de diapositiva</vt:lpstr>
      </vt:variant>
      <vt:variant>
        <vt:i4>24</vt:i4>
      </vt:variant>
    </vt:vector>
  </HeadingPairs>
  <TitlesOfParts>
    <vt:vector size="33" baseType="lpstr">
      <vt:lpstr>Tahoma</vt:lpstr>
      <vt:lpstr>Calibri</vt:lpstr>
      <vt:lpstr>Arial</vt:lpstr>
      <vt:lpstr>Noto Sans Symbols</vt:lpstr>
      <vt:lpstr>Times New Roman</vt:lpstr>
      <vt:lpstr>Office Theme</vt:lpstr>
      <vt:lpstr>Office Theme</vt:lpstr>
      <vt:lpstr>Office Theme</vt:lpstr>
      <vt:lpstr>Office Theme</vt:lpstr>
      <vt:lpstr>Presentación de PowerPoint</vt:lpstr>
      <vt:lpstr>Presentación de PowerPoint</vt:lpstr>
      <vt:lpstr>Presentación de PowerPoint</vt:lpstr>
      <vt:lpstr>Justificación</vt:lpstr>
      <vt:lpstr>Objetivo General</vt:lpstr>
      <vt:lpstr>Objetivos Específicos</vt:lpstr>
      <vt:lpstr>Presentación de PowerPoint</vt:lpstr>
      <vt:lpstr>Presentación de PowerPoint</vt:lpstr>
      <vt:lpstr>Presentación de PowerPoint</vt:lpstr>
      <vt:lpstr>Presentación de PowerPoint</vt:lpstr>
      <vt:lpstr>Recursos educativos internos (CORHUILA)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USUARIO</dc:creator>
  <cp:lastModifiedBy>Karol Natalia Osorio Poveda</cp:lastModifiedBy>
  <cp:revision>6</cp:revision>
  <dcterms:created xsi:type="dcterms:W3CDTF">2018-03-01T14:57:04Z</dcterms:created>
  <dcterms:modified xsi:type="dcterms:W3CDTF">2026-01-31T17:06:54Z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false</vt:bool>
  </property>
  <property fmtid="{D5CDD505-2E9C-101B-9397-08002B2CF9AE}" pid="4" name="LinksUpToDate">
    <vt:bool>false</vt:bool>
  </property>
  <property fmtid="{D5CDD505-2E9C-101B-9397-08002B2CF9AE}" pid="5" name="MMClips">
    <vt:r8>0</vt:r8>
  </property>
  <property fmtid="{D5CDD505-2E9C-101B-9397-08002B2CF9AE}" pid="6" name="Notes">
    <vt:r8>1</vt:r8>
  </property>
  <property fmtid="{D5CDD505-2E9C-101B-9397-08002B2CF9AE}" pid="7" name="PresentationFormat">
    <vt:lpwstr>Widescreen</vt:lpwstr>
  </property>
  <property fmtid="{D5CDD505-2E9C-101B-9397-08002B2CF9AE}" pid="8" name="ScaleCrop">
    <vt:bool>false</vt:bool>
  </property>
  <property fmtid="{D5CDD505-2E9C-101B-9397-08002B2CF9AE}" pid="9" name="ShareDoc">
    <vt:bool>false</vt:bool>
  </property>
  <property fmtid="{D5CDD505-2E9C-101B-9397-08002B2CF9AE}" pid="10" name="Slides">
    <vt:r8>35</vt:r8>
  </property>
</Properties>
</file>